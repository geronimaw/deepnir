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6" r:id="rId2"/>
    <p:sldId id="296" r:id="rId3"/>
    <p:sldId id="298" r:id="rId4"/>
    <p:sldId id="300" r:id="rId5"/>
    <p:sldId id="307" r:id="rId6"/>
    <p:sldId id="310" r:id="rId7"/>
    <p:sldId id="311" r:id="rId8"/>
    <p:sldId id="312" r:id="rId9"/>
    <p:sldId id="313" r:id="rId10"/>
    <p:sldId id="314" r:id="rId11"/>
    <p:sldId id="308" r:id="rId12"/>
    <p:sldId id="309" r:id="rId13"/>
    <p:sldId id="291" r:id="rId1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tilde Molinari" initials="MM" lastIdx="1" clrIdx="0">
    <p:extLst>
      <p:ext uri="{19B8F6BF-5375-455C-9EA6-DF929625EA0E}">
        <p15:presenceInfo xmlns:p15="http://schemas.microsoft.com/office/powerpoint/2012/main" userId="S-1-5-21-627275168-2511844175-3701948605-48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255"/>
    <a:srgbClr val="242B35"/>
    <a:srgbClr val="FF9900"/>
    <a:srgbClr val="F0F3EA"/>
    <a:srgbClr val="5B9B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34" autoAdjust="0"/>
    <p:restoredTop sz="94660"/>
  </p:normalViewPr>
  <p:slideViewPr>
    <p:cSldViewPr snapToGrid="0">
      <p:cViewPr varScale="1">
        <p:scale>
          <a:sx n="115" d="100"/>
          <a:sy n="115" d="100"/>
        </p:scale>
        <p:origin x="78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90BE56-ED70-4881-9D5F-A78A20CA9AE8}" type="datetimeFigureOut">
              <a:rPr lang="it-IT" smtClean="0"/>
              <a:t>05/02/2026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EE5C00-F55A-4CF2-8E8C-D1E38EBA9EE3}" type="slidenum">
              <a:rPr lang="it-IT" smtClean="0"/>
              <a:t>‹N›</a:t>
            </a:fld>
            <a:endParaRPr lang="it-IT"/>
          </a:p>
        </p:txBody>
      </p:sp>
    </p:spTree>
    <p:extLst>
      <p:ext uri="{BB962C8B-B14F-4D97-AF65-F5344CB8AC3E}">
        <p14:creationId xmlns:p14="http://schemas.microsoft.com/office/powerpoint/2010/main" val="3776418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1</a:t>
            </a:fld>
            <a:endParaRPr lang="it-IT"/>
          </a:p>
        </p:txBody>
      </p:sp>
    </p:spTree>
    <p:extLst>
      <p:ext uri="{BB962C8B-B14F-4D97-AF65-F5344CB8AC3E}">
        <p14:creationId xmlns:p14="http://schemas.microsoft.com/office/powerpoint/2010/main" val="2675065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2</a:t>
            </a:fld>
            <a:endParaRPr lang="it-IT"/>
          </a:p>
        </p:txBody>
      </p:sp>
    </p:spTree>
    <p:extLst>
      <p:ext uri="{BB962C8B-B14F-4D97-AF65-F5344CB8AC3E}">
        <p14:creationId xmlns:p14="http://schemas.microsoft.com/office/powerpoint/2010/main" val="230214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3</a:t>
            </a:fld>
            <a:endParaRPr lang="it-IT"/>
          </a:p>
        </p:txBody>
      </p:sp>
    </p:spTree>
    <p:extLst>
      <p:ext uri="{BB962C8B-B14F-4D97-AF65-F5344CB8AC3E}">
        <p14:creationId xmlns:p14="http://schemas.microsoft.com/office/powerpoint/2010/main" val="42341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4</a:t>
            </a:fld>
            <a:endParaRPr lang="it-IT"/>
          </a:p>
        </p:txBody>
      </p:sp>
    </p:spTree>
    <p:extLst>
      <p:ext uri="{BB962C8B-B14F-4D97-AF65-F5344CB8AC3E}">
        <p14:creationId xmlns:p14="http://schemas.microsoft.com/office/powerpoint/2010/main" val="1923861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5</a:t>
            </a:fld>
            <a:endParaRPr lang="it-IT"/>
          </a:p>
        </p:txBody>
      </p:sp>
    </p:spTree>
    <p:extLst>
      <p:ext uri="{BB962C8B-B14F-4D97-AF65-F5344CB8AC3E}">
        <p14:creationId xmlns:p14="http://schemas.microsoft.com/office/powerpoint/2010/main" val="3465304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6</a:t>
            </a:fld>
            <a:endParaRPr lang="it-IT"/>
          </a:p>
        </p:txBody>
      </p:sp>
    </p:spTree>
    <p:extLst>
      <p:ext uri="{BB962C8B-B14F-4D97-AF65-F5344CB8AC3E}">
        <p14:creationId xmlns:p14="http://schemas.microsoft.com/office/powerpoint/2010/main" val="720570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7</a:t>
            </a:fld>
            <a:endParaRPr lang="it-IT"/>
          </a:p>
        </p:txBody>
      </p:sp>
    </p:spTree>
    <p:extLst>
      <p:ext uri="{BB962C8B-B14F-4D97-AF65-F5344CB8AC3E}">
        <p14:creationId xmlns:p14="http://schemas.microsoft.com/office/powerpoint/2010/main" val="938110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8</a:t>
            </a:fld>
            <a:endParaRPr lang="it-IT"/>
          </a:p>
        </p:txBody>
      </p:sp>
    </p:spTree>
    <p:extLst>
      <p:ext uri="{BB962C8B-B14F-4D97-AF65-F5344CB8AC3E}">
        <p14:creationId xmlns:p14="http://schemas.microsoft.com/office/powerpoint/2010/main" val="1290915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9</a:t>
            </a:fld>
            <a:endParaRPr lang="it-IT"/>
          </a:p>
        </p:txBody>
      </p:sp>
    </p:spTree>
    <p:extLst>
      <p:ext uri="{BB962C8B-B14F-4D97-AF65-F5344CB8AC3E}">
        <p14:creationId xmlns:p14="http://schemas.microsoft.com/office/powerpoint/2010/main" val="1703487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10</a:t>
            </a:fld>
            <a:endParaRPr lang="it-IT"/>
          </a:p>
        </p:txBody>
      </p:sp>
    </p:spTree>
    <p:extLst>
      <p:ext uri="{BB962C8B-B14F-4D97-AF65-F5344CB8AC3E}">
        <p14:creationId xmlns:p14="http://schemas.microsoft.com/office/powerpoint/2010/main" val="351506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11</a:t>
            </a:fld>
            <a:endParaRPr lang="it-IT"/>
          </a:p>
        </p:txBody>
      </p:sp>
    </p:spTree>
    <p:extLst>
      <p:ext uri="{BB962C8B-B14F-4D97-AF65-F5344CB8AC3E}">
        <p14:creationId xmlns:p14="http://schemas.microsoft.com/office/powerpoint/2010/main" val="3035549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12</a:t>
            </a:fld>
            <a:endParaRPr lang="it-IT"/>
          </a:p>
        </p:txBody>
      </p:sp>
    </p:spTree>
    <p:extLst>
      <p:ext uri="{BB962C8B-B14F-4D97-AF65-F5344CB8AC3E}">
        <p14:creationId xmlns:p14="http://schemas.microsoft.com/office/powerpoint/2010/main" val="2138856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piè di pagina 3"/>
          <p:cNvSpPr>
            <a:spLocks noGrp="1"/>
          </p:cNvSpPr>
          <p:nvPr>
            <p:ph type="ftr" sz="quarter" idx="10"/>
          </p:nvPr>
        </p:nvSpPr>
        <p:spPr/>
        <p:txBody>
          <a:bodyPr/>
          <a:lstStyle/>
          <a:p>
            <a:endParaRPr lang="it-IT"/>
          </a:p>
        </p:txBody>
      </p:sp>
      <p:sp>
        <p:nvSpPr>
          <p:cNvPr id="5" name="Segnaposto numero diapositiva 4"/>
          <p:cNvSpPr>
            <a:spLocks noGrp="1"/>
          </p:cNvSpPr>
          <p:nvPr>
            <p:ph type="sldNum" sz="quarter" idx="11"/>
          </p:nvPr>
        </p:nvSpPr>
        <p:spPr/>
        <p:txBody>
          <a:bodyPr/>
          <a:lstStyle/>
          <a:p>
            <a:fld id="{99203D97-86CE-42D4-9E8B-36D9ED714780}" type="slidenum">
              <a:rPr lang="it-IT" smtClean="0"/>
              <a:pPr/>
              <a:t>13</a:t>
            </a:fld>
            <a:endParaRPr lang="it-IT"/>
          </a:p>
        </p:txBody>
      </p:sp>
    </p:spTree>
    <p:extLst>
      <p:ext uri="{BB962C8B-B14F-4D97-AF65-F5344CB8AC3E}">
        <p14:creationId xmlns:p14="http://schemas.microsoft.com/office/powerpoint/2010/main" val="1848835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BA05AF06-09C0-4F19-AA50-032CC715CF6C}" type="datetimeFigureOut">
              <a:rPr lang="it-IT" smtClean="0"/>
              <a:t>05/02/2026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428419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BA05AF06-09C0-4F19-AA50-032CC715CF6C}" type="datetimeFigureOut">
              <a:rPr lang="it-IT" smtClean="0"/>
              <a:t>05/02/2026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1214026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p:cNvSpPr>
            <a:spLocks noGrp="1"/>
          </p:cNvSpPr>
          <p:nvPr>
            <p:ph type="dt" sz="half" idx="10"/>
          </p:nvPr>
        </p:nvSpPr>
        <p:spPr/>
        <p:txBody>
          <a:bodyPr/>
          <a:lstStyle/>
          <a:p>
            <a:fld id="{BA05AF06-09C0-4F19-AA50-032CC715CF6C}" type="datetimeFigureOut">
              <a:rPr lang="it-IT" smtClean="0"/>
              <a:t>05/02/2026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249683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BA05AF06-09C0-4F19-AA50-032CC715CF6C}" type="datetimeFigureOut">
              <a:rPr lang="it-IT" smtClean="0"/>
              <a:t>05/02/2026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8411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BA05AF06-09C0-4F19-AA50-032CC715CF6C}" type="datetimeFigureOut">
              <a:rPr lang="it-IT" smtClean="0"/>
              <a:t>05/02/2026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987725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BA05AF06-09C0-4F19-AA50-032CC715CF6C}" type="datetimeFigureOut">
              <a:rPr lang="it-IT" smtClean="0"/>
              <a:t>05/02/2026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263730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BA05AF06-09C0-4F19-AA50-032CC715CF6C}" type="datetimeFigureOut">
              <a:rPr lang="it-IT" smtClean="0"/>
              <a:t>05/02/2026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238833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BA05AF06-09C0-4F19-AA50-032CC715CF6C}" type="datetimeFigureOut">
              <a:rPr lang="it-IT" smtClean="0"/>
              <a:t>05/02/2026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1727242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BA05AF06-09C0-4F19-AA50-032CC715CF6C}" type="datetimeFigureOut">
              <a:rPr lang="it-IT" smtClean="0"/>
              <a:t>05/02/2026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1639245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BA05AF06-09C0-4F19-AA50-032CC715CF6C}" type="datetimeFigureOut">
              <a:rPr lang="it-IT" smtClean="0"/>
              <a:t>05/02/2026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4024754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BA05AF06-09C0-4F19-AA50-032CC715CF6C}" type="datetimeFigureOut">
              <a:rPr lang="it-IT" smtClean="0"/>
              <a:t>05/02/2026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9A0F693-1DD2-4FBA-952D-8E594CF33B57}" type="slidenum">
              <a:rPr lang="it-IT" smtClean="0"/>
              <a:t>‹N›</a:t>
            </a:fld>
            <a:endParaRPr lang="it-IT"/>
          </a:p>
        </p:txBody>
      </p:sp>
    </p:spTree>
    <p:extLst>
      <p:ext uri="{BB962C8B-B14F-4D97-AF65-F5344CB8AC3E}">
        <p14:creationId xmlns:p14="http://schemas.microsoft.com/office/powerpoint/2010/main" val="2889525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05AF06-09C0-4F19-AA50-032CC715CF6C}" type="datetimeFigureOut">
              <a:rPr lang="it-IT" smtClean="0"/>
              <a:t>05/02/2026</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A0F693-1DD2-4FBA-952D-8E594CF33B57}" type="slidenum">
              <a:rPr lang="it-IT" smtClean="0"/>
              <a:t>‹N›</a:t>
            </a:fld>
            <a:endParaRPr lang="it-IT"/>
          </a:p>
        </p:txBody>
      </p:sp>
    </p:spTree>
    <p:extLst>
      <p:ext uri="{BB962C8B-B14F-4D97-AF65-F5344CB8AC3E}">
        <p14:creationId xmlns:p14="http://schemas.microsoft.com/office/powerpoint/2010/main" val="2070860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2.xml"/><Relationship Id="rId7"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9.jpe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5.xml"/><Relationship Id="rId7"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png"/><Relationship Id="rId5" Type="http://schemas.openxmlformats.org/officeDocument/2006/relationships/image" Target="../media/image10.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3.jpe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7.png"/><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7.bin"/><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notesSlide" Target="../notesSlides/notesSlide9.xml"/><Relationship Id="rId7"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po 5"/>
          <p:cNvGrpSpPr/>
          <p:nvPr/>
        </p:nvGrpSpPr>
        <p:grpSpPr>
          <a:xfrm>
            <a:off x="-9236" y="-144463"/>
            <a:ext cx="12201236" cy="7009154"/>
            <a:chOff x="-9236" y="-144463"/>
            <a:chExt cx="12201236" cy="7009154"/>
          </a:xfrm>
        </p:grpSpPr>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pic>
          <p:nvPicPr>
            <p:cNvPr id="3" name="Immagine 2"/>
            <p:cNvPicPr>
              <a:picLocks noChangeAspect="1"/>
            </p:cNvPicPr>
            <p:nvPr/>
          </p:nvPicPr>
          <p:blipFill rotWithShape="1">
            <a:blip r:embed="rId4"/>
            <a:srcRect r="59276"/>
            <a:stretch/>
          </p:blipFill>
          <p:spPr>
            <a:xfrm>
              <a:off x="-9236" y="0"/>
              <a:ext cx="12201236" cy="6864691"/>
            </a:xfrm>
            <a:prstGeom prst="rect">
              <a:avLst/>
            </a:prstGeom>
          </p:spPr>
        </p:pic>
        <p:sp>
          <p:nvSpPr>
            <p:cNvPr id="4" name="Rettangolo 3"/>
            <p:cNvSpPr/>
            <p:nvPr/>
          </p:nvSpPr>
          <p:spPr>
            <a:xfrm>
              <a:off x="-9236" y="544983"/>
              <a:ext cx="6606353" cy="1323439"/>
            </a:xfrm>
            <a:prstGeom prst="rect">
              <a:avLst/>
            </a:prstGeom>
          </p:spPr>
          <p:txBody>
            <a:bodyPr wrap="square">
              <a:spAutoFit/>
            </a:bodyPr>
            <a:lstStyle/>
            <a:p>
              <a:pPr lvl="0" algn="ctr">
                <a:defRPr/>
              </a:pPr>
              <a:r>
                <a:rPr lang="it-IT" sz="4000" b="1" dirty="0">
                  <a:solidFill>
                    <a:prstClr val="white"/>
                  </a:solidFill>
                  <a:latin typeface="Source Sans Pro" panose="020B0503030403020204" pitchFamily="34" charset="0"/>
                  <a:ea typeface="Source Sans Pro" panose="020B0503030403020204" pitchFamily="34" charset="0"/>
                  <a:cs typeface="Arial" panose="020B0604020202020204" pitchFamily="34" charset="0"/>
                </a:rPr>
                <a:t>NIR </a:t>
              </a:r>
              <a:r>
                <a:rPr lang="it-IT" sz="4000" b="1" dirty="0" err="1">
                  <a:solidFill>
                    <a:prstClr val="white"/>
                  </a:solidFill>
                  <a:latin typeface="Source Sans Pro" panose="020B0503030403020204" pitchFamily="34" charset="0"/>
                  <a:ea typeface="Source Sans Pro" panose="020B0503030403020204" pitchFamily="34" charset="0"/>
                  <a:cs typeface="Arial" panose="020B0604020202020204" pitchFamily="34" charset="0"/>
                </a:rPr>
                <a:t>calibrations</a:t>
              </a:r>
              <a:r>
                <a:rPr lang="it-IT" sz="4000" kern="0" dirty="0">
                  <a:solidFill>
                    <a:prstClr val="white"/>
                  </a:solidFill>
                  <a:latin typeface="Source Sans Pro" panose="020B0503030403020204" pitchFamily="34" charset="0"/>
                  <a:ea typeface="Source Sans Pro" panose="020B0503030403020204" pitchFamily="34" charset="0"/>
                </a:rPr>
                <a:t/>
              </a:r>
              <a:br>
                <a:rPr lang="it-IT" sz="4000" kern="0" dirty="0">
                  <a:solidFill>
                    <a:prstClr val="white"/>
                  </a:solidFill>
                  <a:latin typeface="Source Sans Pro" panose="020B0503030403020204" pitchFamily="34" charset="0"/>
                  <a:ea typeface="Source Sans Pro" panose="020B0503030403020204" pitchFamily="34" charset="0"/>
                </a:rPr>
              </a:br>
              <a:endParaRPr lang="it-IT" sz="4000" kern="0" dirty="0">
                <a:solidFill>
                  <a:prstClr val="white"/>
                </a:solidFill>
                <a:latin typeface="Source Sans Pro" panose="020B0503030403020204" pitchFamily="34" charset="0"/>
                <a:ea typeface="Source Sans Pro" panose="020B0503030403020204" pitchFamily="34" charset="0"/>
              </a:endParaRPr>
            </a:p>
          </p:txBody>
        </p:sp>
        <p:pic>
          <p:nvPicPr>
            <p:cNvPr id="11" name="Immagin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1380" y="5262265"/>
              <a:ext cx="4341605" cy="1484400"/>
            </a:xfrm>
            <a:prstGeom prst="rect">
              <a:avLst/>
            </a:prstGeom>
          </p:spPr>
        </p:pic>
        <p:sp>
          <p:nvSpPr>
            <p:cNvPr id="2" name="AutoShape 2" descr="blob:https://web.whatsapp.com/1358da7a-9051-4f1b-8da0-0fbbca55b622"/>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13" name="Rettangolo 12"/>
          <p:cNvSpPr/>
          <p:nvPr/>
        </p:nvSpPr>
        <p:spPr>
          <a:xfrm rot="16200000">
            <a:off x="3256531" y="3333898"/>
            <a:ext cx="6864689" cy="183515"/>
          </a:xfrm>
          <a:prstGeom prst="rect">
            <a:avLst/>
          </a:prstGeom>
          <a:gradFill flip="none" rotWithShape="1">
            <a:gsLst>
              <a:gs pos="11000">
                <a:srgbClr val="242B35"/>
              </a:gs>
              <a:gs pos="0">
                <a:schemeClr val="accent1">
                  <a:lumMod val="5000"/>
                  <a:lumOff val="95000"/>
                </a:schemeClr>
              </a:gs>
              <a:gs pos="0">
                <a:srgbClr val="242B35"/>
              </a:gs>
              <a:gs pos="64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spTree>
    <p:extLst>
      <p:ext uri="{BB962C8B-B14F-4D97-AF65-F5344CB8AC3E}">
        <p14:creationId xmlns:p14="http://schemas.microsoft.com/office/powerpoint/2010/main" val="2898878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7194" y="-976"/>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graphicFrame>
        <p:nvGraphicFramePr>
          <p:cNvPr id="3" name="Oggetto 2"/>
          <p:cNvGraphicFramePr>
            <a:graphicFrameLocks noChangeAspect="1"/>
          </p:cNvGraphicFramePr>
          <p:nvPr>
            <p:extLst>
              <p:ext uri="{D42A27DB-BD31-4B8C-83A1-F6EECF244321}">
                <p14:modId xmlns:p14="http://schemas.microsoft.com/office/powerpoint/2010/main" val="2139289365"/>
              </p:ext>
            </p:extLst>
          </p:nvPr>
        </p:nvGraphicFramePr>
        <p:xfrm>
          <a:off x="166938" y="2358327"/>
          <a:ext cx="5323106" cy="3660090"/>
        </p:xfrm>
        <a:graphic>
          <a:graphicData uri="http://schemas.openxmlformats.org/presentationml/2006/ole">
            <mc:AlternateContent xmlns:mc="http://schemas.openxmlformats.org/markup-compatibility/2006">
              <mc:Choice xmlns:v="urn:schemas-microsoft-com:vml" Requires="v">
                <p:oleObj spid="_x0000_s1309" name="Bitmap Image" r:id="rId5" imgW="4654440" imgH="3200400" progId="PBrush">
                  <p:embed/>
                </p:oleObj>
              </mc:Choice>
              <mc:Fallback>
                <p:oleObj name="Bitmap Image" r:id="rId5" imgW="4654440" imgH="3200400" progId="PBrush">
                  <p:embed/>
                  <p:pic>
                    <p:nvPicPr>
                      <p:cNvPr id="0" name=""/>
                      <p:cNvPicPr/>
                      <p:nvPr/>
                    </p:nvPicPr>
                    <p:blipFill>
                      <a:blip r:embed="rId6"/>
                      <a:stretch>
                        <a:fillRect/>
                      </a:stretch>
                    </p:blipFill>
                    <p:spPr>
                      <a:xfrm>
                        <a:off x="166938" y="2358327"/>
                        <a:ext cx="5323106" cy="3660090"/>
                      </a:xfrm>
                      <a:prstGeom prst="rect">
                        <a:avLst/>
                      </a:prstGeom>
                    </p:spPr>
                  </p:pic>
                </p:oleObj>
              </mc:Fallback>
            </mc:AlternateContent>
          </a:graphicData>
        </a:graphic>
      </p:graphicFrame>
      <p:sp>
        <p:nvSpPr>
          <p:cNvPr id="5" name="CasellaDiTesto 4"/>
          <p:cNvSpPr txBox="1"/>
          <p:nvPr/>
        </p:nvSpPr>
        <p:spPr>
          <a:xfrm>
            <a:off x="166938" y="28792"/>
            <a:ext cx="1244956" cy="646331"/>
          </a:xfrm>
          <a:prstGeom prst="rect">
            <a:avLst/>
          </a:prstGeom>
          <a:noFill/>
        </p:spPr>
        <p:txBody>
          <a:bodyPr wrap="none" rtlCol="0">
            <a:spAutoFit/>
          </a:bodyPr>
          <a:lstStyle/>
          <a:p>
            <a:r>
              <a:rPr lang="it-IT" b="1" dirty="0" err="1">
                <a:solidFill>
                  <a:schemeClr val="bg1"/>
                </a:solidFill>
              </a:rPr>
              <a:t>Corn</a:t>
            </a:r>
            <a:r>
              <a:rPr lang="it-IT" b="1" dirty="0">
                <a:solidFill>
                  <a:schemeClr val="bg1"/>
                </a:solidFill>
              </a:rPr>
              <a:t> </a:t>
            </a:r>
            <a:r>
              <a:rPr lang="it-IT" b="1" dirty="0" err="1">
                <a:solidFill>
                  <a:schemeClr val="bg1"/>
                </a:solidFill>
              </a:rPr>
              <a:t>Silage</a:t>
            </a:r>
            <a:endParaRPr lang="it-IT" b="1" dirty="0">
              <a:solidFill>
                <a:schemeClr val="bg1"/>
              </a:solidFill>
            </a:endParaRPr>
          </a:p>
          <a:p>
            <a:r>
              <a:rPr lang="it-IT" dirty="0">
                <a:solidFill>
                  <a:schemeClr val="bg1"/>
                </a:solidFill>
              </a:rPr>
              <a:t>NIR ID# 1</a:t>
            </a:r>
          </a:p>
        </p:txBody>
      </p:sp>
      <p:graphicFrame>
        <p:nvGraphicFramePr>
          <p:cNvPr id="18" name="Oggetto 17"/>
          <p:cNvGraphicFramePr>
            <a:graphicFrameLocks noChangeAspect="1"/>
          </p:cNvGraphicFramePr>
          <p:nvPr>
            <p:extLst>
              <p:ext uri="{D42A27DB-BD31-4B8C-83A1-F6EECF244321}">
                <p14:modId xmlns:p14="http://schemas.microsoft.com/office/powerpoint/2010/main" val="3837230678"/>
              </p:ext>
            </p:extLst>
          </p:nvPr>
        </p:nvGraphicFramePr>
        <p:xfrm>
          <a:off x="5804510" y="3867841"/>
          <a:ext cx="5254500" cy="2150576"/>
        </p:xfrm>
        <a:graphic>
          <a:graphicData uri="http://schemas.openxmlformats.org/presentationml/2006/ole">
            <mc:AlternateContent xmlns:mc="http://schemas.openxmlformats.org/markup-compatibility/2006">
              <mc:Choice xmlns:v="urn:schemas-microsoft-com:vml" Requires="v">
                <p:oleObj spid="_x0000_s1310" name="Bitmap Image" r:id="rId7" imgW="3009960" imgH="1231920" progId="PBrush">
                  <p:embed/>
                </p:oleObj>
              </mc:Choice>
              <mc:Fallback>
                <p:oleObj name="Bitmap Image" r:id="rId7" imgW="3009960" imgH="1231920" progId="PBrush">
                  <p:embed/>
                  <p:pic>
                    <p:nvPicPr>
                      <p:cNvPr id="12" name="Oggetto 11"/>
                      <p:cNvPicPr/>
                      <p:nvPr/>
                    </p:nvPicPr>
                    <p:blipFill>
                      <a:blip r:embed="rId8"/>
                      <a:stretch>
                        <a:fillRect/>
                      </a:stretch>
                    </p:blipFill>
                    <p:spPr>
                      <a:xfrm>
                        <a:off x="5804510" y="3867841"/>
                        <a:ext cx="5254500" cy="2150576"/>
                      </a:xfrm>
                      <a:prstGeom prst="rect">
                        <a:avLst/>
                      </a:prstGeom>
                    </p:spPr>
                  </p:pic>
                </p:oleObj>
              </mc:Fallback>
            </mc:AlternateContent>
          </a:graphicData>
        </a:graphic>
      </p:graphicFrame>
      <p:sp>
        <p:nvSpPr>
          <p:cNvPr id="4" name="CasellaDiTesto 3"/>
          <p:cNvSpPr txBox="1"/>
          <p:nvPr/>
        </p:nvSpPr>
        <p:spPr>
          <a:xfrm>
            <a:off x="286800" y="880237"/>
            <a:ext cx="6418900" cy="1015663"/>
          </a:xfrm>
          <a:prstGeom prst="rect">
            <a:avLst/>
          </a:prstGeom>
          <a:noFill/>
        </p:spPr>
        <p:txBody>
          <a:bodyPr wrap="square" rtlCol="0">
            <a:spAutoFit/>
          </a:bodyPr>
          <a:lstStyle/>
          <a:p>
            <a:r>
              <a:rPr lang="en-US" sz="1200" dirty="0"/>
              <a:t>Maize silage (</a:t>
            </a:r>
            <a:r>
              <a:rPr lang="en-US" sz="1200" i="1" dirty="0" err="1"/>
              <a:t>Zea</a:t>
            </a:r>
            <a:r>
              <a:rPr lang="en-US" sz="1200" i="1" dirty="0"/>
              <a:t> mays</a:t>
            </a:r>
            <a:r>
              <a:rPr lang="en-US" sz="1200" dirty="0"/>
              <a:t> L.) is made out of whole ensiled maize plants. It is one of the most valuable forages for ruminant livestock and it is used wherever maize can grow, from temperate regions to the tropics. The popularity of maize silage is due to several factors. It is a consistent source of palatable and high-energy forage for all classes of ruminants, including dairy cattle, beef cattle, sheep and goats</a:t>
            </a:r>
            <a:endParaRPr lang="it-IT" sz="1200" dirty="0"/>
          </a:p>
        </p:txBody>
      </p:sp>
      <p:graphicFrame>
        <p:nvGraphicFramePr>
          <p:cNvPr id="2" name="Tabella 1"/>
          <p:cNvGraphicFramePr>
            <a:graphicFrameLocks noGrp="1"/>
          </p:cNvGraphicFramePr>
          <p:nvPr>
            <p:extLst>
              <p:ext uri="{D42A27DB-BD31-4B8C-83A1-F6EECF244321}">
                <p14:modId xmlns:p14="http://schemas.microsoft.com/office/powerpoint/2010/main" val="2504060477"/>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u="none" strike="noStrike" dirty="0">
                          <a:effectLst/>
                        </a:rPr>
                        <a:t>20.1</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u="none" strike="noStrike" dirty="0">
                          <a:effectLst/>
                        </a:rPr>
                        <a:t>18.1</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u="none" strike="noStrike">
                          <a:effectLst/>
                        </a:rPr>
                        <a:t>3.1</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u="none" strike="noStrike">
                          <a:effectLst/>
                        </a:rPr>
                        <a:t>14.7</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u="none" strike="noStrike">
                          <a:effectLst/>
                        </a:rPr>
                        <a:t>27.1</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53.4</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46.4</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10.0</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40.0</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68.5</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7.5</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4.2</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35.4</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31.1</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7.3</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23.6</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41.8</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4.1</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3.0</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u="none" strike="noStrike">
                          <a:effectLst/>
                        </a:rPr>
                        <a:t>5.1</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5.5</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0.8</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3.3</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5.4</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0.8</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0.4</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u="none" strike="noStrike" dirty="0">
                          <a:effectLst/>
                        </a:rPr>
                        <a:t>573</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tcPr>
                </a:tc>
                <a:tc>
                  <a:txBody>
                    <a:bodyPr/>
                    <a:lstStyle/>
                    <a:p>
                      <a:pPr algn="ctr" fontAlgn="b"/>
                      <a:r>
                        <a:rPr lang="it-IT" sz="1200" u="none" strike="noStrike">
                          <a:effectLst/>
                        </a:rPr>
                        <a:t>529</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538</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538</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a:effectLst/>
                        </a:rPr>
                        <a:t>528</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538</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u="none" strike="noStrike" dirty="0">
                          <a:effectLst/>
                        </a:rPr>
                        <a:t>538</a:t>
                      </a:r>
                      <a:endParaRPr lang="it-IT"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98857500"/>
                  </a:ext>
                </a:extLst>
              </a:tr>
            </a:tbl>
          </a:graphicData>
        </a:graphic>
      </p:graphicFrame>
      <p:sp>
        <p:nvSpPr>
          <p:cNvPr id="16" name="Rettangolo 1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spTree>
    <p:extLst>
      <p:ext uri="{BB962C8B-B14F-4D97-AF65-F5344CB8AC3E}">
        <p14:creationId xmlns:p14="http://schemas.microsoft.com/office/powerpoint/2010/main" val="3448605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2745" y="0"/>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 name="Rettangolo 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15" name="CasellaDiTesto 14"/>
          <p:cNvSpPr txBox="1"/>
          <p:nvPr/>
        </p:nvSpPr>
        <p:spPr>
          <a:xfrm>
            <a:off x="286800" y="880237"/>
            <a:ext cx="6418900" cy="830997"/>
          </a:xfrm>
          <a:prstGeom prst="rect">
            <a:avLst/>
          </a:prstGeom>
          <a:noFill/>
        </p:spPr>
        <p:txBody>
          <a:bodyPr wrap="square" rtlCol="0">
            <a:spAutoFit/>
          </a:bodyPr>
          <a:lstStyle/>
          <a:p>
            <a:r>
              <a:rPr lang="en-US" sz="1200" dirty="0"/>
              <a:t>Hay is grass, legumes, or other herbaceous plants that have been cut and dried to be stored for use as animal fodder</a:t>
            </a:r>
            <a:endParaRPr lang="it-IT" sz="1200" dirty="0"/>
          </a:p>
          <a:p>
            <a:r>
              <a:rPr lang="it-IT" sz="1200" dirty="0" err="1"/>
              <a:t>Calibration</a:t>
            </a:r>
            <a:r>
              <a:rPr lang="it-IT" sz="1200" dirty="0"/>
              <a:t> </a:t>
            </a:r>
            <a:r>
              <a:rPr lang="en-US" sz="1200" dirty="0"/>
              <a:t>includes mixtures of grasses such as ryegrass (</a:t>
            </a:r>
            <a:r>
              <a:rPr lang="en-US" sz="1200" dirty="0" err="1"/>
              <a:t>Lolium</a:t>
            </a:r>
            <a:r>
              <a:rPr lang="en-US" sz="1200" dirty="0"/>
              <a:t> species),</a:t>
            </a:r>
          </a:p>
          <a:p>
            <a:r>
              <a:rPr lang="en-US" sz="1200" dirty="0"/>
              <a:t>timothy, brome, fescue, Bermuda grass, orchard grass, and other species.</a:t>
            </a:r>
            <a:endParaRPr lang="it-IT" sz="1200" dirty="0"/>
          </a:p>
        </p:txBody>
      </p:sp>
      <p:sp>
        <p:nvSpPr>
          <p:cNvPr id="16" name="CasellaDiTesto 15"/>
          <p:cNvSpPr txBox="1"/>
          <p:nvPr/>
        </p:nvSpPr>
        <p:spPr>
          <a:xfrm>
            <a:off x="166938" y="28792"/>
            <a:ext cx="1513363" cy="646331"/>
          </a:xfrm>
          <a:prstGeom prst="rect">
            <a:avLst/>
          </a:prstGeom>
          <a:noFill/>
        </p:spPr>
        <p:txBody>
          <a:bodyPr wrap="none" rtlCol="0">
            <a:spAutoFit/>
          </a:bodyPr>
          <a:lstStyle/>
          <a:p>
            <a:r>
              <a:rPr lang="it-IT" b="1" dirty="0" smtClean="0">
                <a:solidFill>
                  <a:schemeClr val="bg1"/>
                </a:solidFill>
              </a:rPr>
              <a:t>Dry </a:t>
            </a:r>
            <a:r>
              <a:rPr lang="it-IT" b="1" dirty="0" err="1" smtClean="0">
                <a:solidFill>
                  <a:schemeClr val="bg1"/>
                </a:solidFill>
              </a:rPr>
              <a:t>Grass</a:t>
            </a:r>
            <a:r>
              <a:rPr lang="it-IT" b="1" dirty="0" smtClean="0">
                <a:solidFill>
                  <a:schemeClr val="bg1"/>
                </a:solidFill>
              </a:rPr>
              <a:t> </a:t>
            </a:r>
            <a:r>
              <a:rPr lang="it-IT" b="1" dirty="0" err="1" smtClean="0">
                <a:solidFill>
                  <a:schemeClr val="bg1"/>
                </a:solidFill>
              </a:rPr>
              <a:t>Hay</a:t>
            </a:r>
            <a:endParaRPr lang="it-IT" b="1" dirty="0">
              <a:solidFill>
                <a:schemeClr val="bg1"/>
              </a:solidFill>
            </a:endParaRPr>
          </a:p>
          <a:p>
            <a:r>
              <a:rPr lang="it-IT" dirty="0">
                <a:solidFill>
                  <a:schemeClr val="bg1"/>
                </a:solidFill>
              </a:rPr>
              <a:t>NIR ID# </a:t>
            </a:r>
            <a:r>
              <a:rPr lang="it-IT" dirty="0" smtClean="0">
                <a:solidFill>
                  <a:schemeClr val="bg1"/>
                </a:solidFill>
              </a:rPr>
              <a:t>2</a:t>
            </a:r>
            <a:endParaRPr lang="it-IT" dirty="0">
              <a:solidFill>
                <a:schemeClr val="bg1"/>
              </a:solidFill>
            </a:endParaRPr>
          </a:p>
        </p:txBody>
      </p:sp>
      <p:pic>
        <p:nvPicPr>
          <p:cNvPr id="3159" name="Picture 87" descr="Paddy Straw Dried Grass-(Hay), Packaging Size: Bales (in Roll Form) Easy To  Carry And Feed Cattles at best price in Gummidipoond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9475" y="3658138"/>
            <a:ext cx="4762500" cy="2266951"/>
          </a:xfrm>
          <a:prstGeom prst="rect">
            <a:avLst/>
          </a:prstGeom>
          <a:noFill/>
          <a:extLst>
            <a:ext uri="{909E8E84-426E-40DD-AFC4-6F175D3DCCD1}">
              <a14:hiddenFill xmlns:a14="http://schemas.microsoft.com/office/drawing/2010/main">
                <a:solidFill>
                  <a:srgbClr val="FFFFFF"/>
                </a:solidFill>
              </a14:hiddenFill>
            </a:ext>
          </a:extLst>
        </p:spPr>
      </p:pic>
      <p:pic>
        <p:nvPicPr>
          <p:cNvPr id="3161" name="Picture 89" descr="Supreme Tiny Friends Farm Russel Rabbit Tasty Hay | Buy Rabbit Food Online  – Canine &amp; Co"/>
          <p:cNvPicPr>
            <a:picLocks noChangeAspect="1" noChangeArrowheads="1"/>
          </p:cNvPicPr>
          <p:nvPr/>
        </p:nvPicPr>
        <p:blipFill rotWithShape="1">
          <a:blip r:embed="rId5">
            <a:extLst>
              <a:ext uri="{28A0092B-C50C-407E-A947-70E740481C1C}">
                <a14:useLocalDpi xmlns:a14="http://schemas.microsoft.com/office/drawing/2010/main" val="0"/>
              </a:ext>
            </a:extLst>
          </a:blip>
          <a:srcRect t="363" b="15746"/>
          <a:stretch/>
        </p:blipFill>
        <p:spPr bwMode="auto">
          <a:xfrm>
            <a:off x="286800" y="1960554"/>
            <a:ext cx="4725775" cy="396453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Tabella 17"/>
          <p:cNvGraphicFramePr>
            <a:graphicFrameLocks noGrp="1"/>
          </p:cNvGraphicFramePr>
          <p:nvPr>
            <p:extLst>
              <p:ext uri="{D42A27DB-BD31-4B8C-83A1-F6EECF244321}">
                <p14:modId xmlns:p14="http://schemas.microsoft.com/office/powerpoint/2010/main" val="3753046093"/>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73.1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3.0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20.7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41.5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0.3</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97.5</a:t>
                      </a:r>
                    </a:p>
                  </a:txBody>
                  <a:tcPr marL="9525" marR="9525" marT="9525" marB="0" anchor="ct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21.0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61.1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79.1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15.5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3.0</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90.4</a:t>
                      </a:r>
                    </a:p>
                  </a:txBody>
                  <a:tcPr marL="9525" marR="9525" marT="9525" marB="0" anchor="ct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10.0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36.0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61.1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1.5</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3.1</a:t>
                      </a:r>
                    </a:p>
                  </a:txBody>
                  <a:tcPr marL="9525" marR="9525" marT="9525" marB="0" anchor="ct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0.6</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318</a:t>
                      </a:r>
                    </a:p>
                  </a:txBody>
                  <a:tcPr marL="9525" marR="9525" marT="9525" marB="0" anchor="ctr">
                    <a:lnL>
                      <a:noFill/>
                    </a:lnL>
                  </a:tcP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318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318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318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318</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318</a:t>
                      </a:r>
                    </a:p>
                  </a:txBody>
                  <a:tcPr marL="9525" marR="9525" marT="9525" marB="0" anchor="ctr"/>
                </a:tc>
                <a:extLst>
                  <a:ext uri="{0D108BD9-81ED-4DB2-BD59-A6C34878D82A}">
                    <a16:rowId xmlns:a16="http://schemas.microsoft.com/office/drawing/2014/main" val="3798857500"/>
                  </a:ext>
                </a:extLst>
              </a:tr>
            </a:tbl>
          </a:graphicData>
        </a:graphic>
      </p:graphicFrame>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spTree>
    <p:extLst>
      <p:ext uri="{BB962C8B-B14F-4D97-AF65-F5344CB8AC3E}">
        <p14:creationId xmlns:p14="http://schemas.microsoft.com/office/powerpoint/2010/main" val="4267317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2745" y="0"/>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 name="Rettangolo 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graphicFrame>
        <p:nvGraphicFramePr>
          <p:cNvPr id="2" name="Oggetto 1"/>
          <p:cNvGraphicFramePr>
            <a:graphicFrameLocks noChangeAspect="1"/>
          </p:cNvGraphicFramePr>
          <p:nvPr>
            <p:extLst>
              <p:ext uri="{D42A27DB-BD31-4B8C-83A1-F6EECF244321}">
                <p14:modId xmlns:p14="http://schemas.microsoft.com/office/powerpoint/2010/main" val="2292537562"/>
              </p:ext>
            </p:extLst>
          </p:nvPr>
        </p:nvGraphicFramePr>
        <p:xfrm>
          <a:off x="187981" y="2032956"/>
          <a:ext cx="4491130" cy="4028808"/>
        </p:xfrm>
        <a:graphic>
          <a:graphicData uri="http://schemas.openxmlformats.org/presentationml/2006/ole">
            <mc:AlternateContent xmlns:mc="http://schemas.openxmlformats.org/markup-compatibility/2006">
              <mc:Choice xmlns:v="urn:schemas-microsoft-com:vml" Requires="v">
                <p:oleObj spid="_x0000_s5212" name="Bitmap Image" r:id="rId5" imgW="3886200" imgH="3486240" progId="PBrush">
                  <p:embed/>
                </p:oleObj>
              </mc:Choice>
              <mc:Fallback>
                <p:oleObj name="Bitmap Image" r:id="rId5" imgW="3886200" imgH="3486240" progId="PBrush">
                  <p:embed/>
                  <p:pic>
                    <p:nvPicPr>
                      <p:cNvPr id="0" name=""/>
                      <p:cNvPicPr/>
                      <p:nvPr/>
                    </p:nvPicPr>
                    <p:blipFill>
                      <a:blip r:embed="rId6"/>
                      <a:stretch>
                        <a:fillRect/>
                      </a:stretch>
                    </p:blipFill>
                    <p:spPr>
                      <a:xfrm>
                        <a:off x="187981" y="2032956"/>
                        <a:ext cx="4491130" cy="4028808"/>
                      </a:xfrm>
                      <a:prstGeom prst="rect">
                        <a:avLst/>
                      </a:prstGeom>
                    </p:spPr>
                  </p:pic>
                </p:oleObj>
              </mc:Fallback>
            </mc:AlternateContent>
          </a:graphicData>
        </a:graphic>
      </p:graphicFrame>
      <p:sp>
        <p:nvSpPr>
          <p:cNvPr id="4" name="Rettangolo 3"/>
          <p:cNvSpPr/>
          <p:nvPr/>
        </p:nvSpPr>
        <p:spPr>
          <a:xfrm>
            <a:off x="286800" y="880237"/>
            <a:ext cx="6096000" cy="830997"/>
          </a:xfrm>
          <a:prstGeom prst="rect">
            <a:avLst/>
          </a:prstGeom>
        </p:spPr>
        <p:txBody>
          <a:bodyPr>
            <a:spAutoFit/>
          </a:bodyPr>
          <a:lstStyle/>
          <a:p>
            <a:r>
              <a:rPr lang="en-US" sz="1200" dirty="0"/>
              <a:t>Alfalfa (</a:t>
            </a:r>
            <a:r>
              <a:rPr lang="en-US" sz="1200" dirty="0" err="1"/>
              <a:t>Medicago</a:t>
            </a:r>
            <a:r>
              <a:rPr lang="en-US" sz="1200" dirty="0"/>
              <a:t> sativa L.) is a perennial herbaceous legume. Due to its high nutritional quality, high yields and high adaptability, alfalfa is one of the most important legume forages of the world. A major source of protein for livestock, it is a basic component in rations for dairy cattle, beef cattle, horses, sheep, goats and other classes of domestic animals </a:t>
            </a:r>
            <a:endParaRPr lang="it-IT" sz="1200" dirty="0"/>
          </a:p>
        </p:txBody>
      </p:sp>
      <p:sp>
        <p:nvSpPr>
          <p:cNvPr id="13" name="CasellaDiTesto 12"/>
          <p:cNvSpPr txBox="1"/>
          <p:nvPr/>
        </p:nvSpPr>
        <p:spPr>
          <a:xfrm>
            <a:off x="166938" y="28792"/>
            <a:ext cx="2185564" cy="646331"/>
          </a:xfrm>
          <a:prstGeom prst="rect">
            <a:avLst/>
          </a:prstGeom>
          <a:noFill/>
        </p:spPr>
        <p:txBody>
          <a:bodyPr wrap="square" rtlCol="0">
            <a:spAutoFit/>
          </a:bodyPr>
          <a:lstStyle/>
          <a:p>
            <a:r>
              <a:rPr lang="it-IT" b="1" dirty="0" smtClean="0">
                <a:solidFill>
                  <a:schemeClr val="bg1"/>
                </a:solidFill>
              </a:rPr>
              <a:t>Dry </a:t>
            </a:r>
            <a:r>
              <a:rPr lang="it-IT" b="1" dirty="0" err="1" smtClean="0">
                <a:solidFill>
                  <a:schemeClr val="bg1"/>
                </a:solidFill>
              </a:rPr>
              <a:t>Alfalfa</a:t>
            </a:r>
            <a:r>
              <a:rPr lang="it-IT" b="1" dirty="0" smtClean="0">
                <a:solidFill>
                  <a:schemeClr val="bg1"/>
                </a:solidFill>
              </a:rPr>
              <a:t> </a:t>
            </a:r>
            <a:r>
              <a:rPr lang="it-IT" b="1" dirty="0" err="1" smtClean="0">
                <a:solidFill>
                  <a:schemeClr val="bg1"/>
                </a:solidFill>
              </a:rPr>
              <a:t>Hay</a:t>
            </a:r>
            <a:endParaRPr lang="it-IT" b="1" dirty="0">
              <a:solidFill>
                <a:schemeClr val="bg1"/>
              </a:solidFill>
            </a:endParaRPr>
          </a:p>
          <a:p>
            <a:r>
              <a:rPr lang="it-IT" dirty="0">
                <a:solidFill>
                  <a:schemeClr val="bg1"/>
                </a:solidFill>
              </a:rPr>
              <a:t>NIR ID# </a:t>
            </a:r>
            <a:r>
              <a:rPr lang="it-IT" dirty="0" smtClean="0">
                <a:solidFill>
                  <a:schemeClr val="bg1"/>
                </a:solidFill>
              </a:rPr>
              <a:t>4</a:t>
            </a:r>
            <a:endParaRPr lang="it-IT" dirty="0">
              <a:solidFill>
                <a:schemeClr val="bg1"/>
              </a:solidFill>
            </a:endParaRPr>
          </a:p>
        </p:txBody>
      </p:sp>
      <p:pic>
        <p:nvPicPr>
          <p:cNvPr id="5206" name="Picture 86" descr="125 Windrows Hay Field Stock Photos - Free &amp; Royalty-Free Stock Photos from  Dreamstime"/>
          <p:cNvPicPr>
            <a:picLocks noChangeAspect="1" noChangeArrowheads="1"/>
          </p:cNvPicPr>
          <p:nvPr/>
        </p:nvPicPr>
        <p:blipFill rotWithShape="1">
          <a:blip r:embed="rId7">
            <a:extLst>
              <a:ext uri="{28A0092B-C50C-407E-A947-70E740481C1C}">
                <a14:useLocalDpi xmlns:a14="http://schemas.microsoft.com/office/drawing/2010/main" val="0"/>
              </a:ext>
            </a:extLst>
          </a:blip>
          <a:srcRect t="11837" b="12274"/>
          <a:stretch/>
        </p:blipFill>
        <p:spPr bwMode="auto">
          <a:xfrm>
            <a:off x="4835432" y="3721277"/>
            <a:ext cx="4782394" cy="234048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ella 15"/>
          <p:cNvGraphicFramePr>
            <a:graphicFrameLocks noGrp="1"/>
          </p:cNvGraphicFramePr>
          <p:nvPr>
            <p:extLst>
              <p:ext uri="{D42A27DB-BD31-4B8C-83A1-F6EECF244321}">
                <p14:modId xmlns:p14="http://schemas.microsoft.com/office/powerpoint/2010/main" val="2209330757"/>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73.2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20.2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25.6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3.1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0.5</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96.4</a:t>
                      </a:r>
                    </a:p>
                  </a:txBody>
                  <a:tcPr marL="9525" marR="9525" marT="9525" marB="0" anchor="ct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25.2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56.3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72.1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20.8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3.0</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89.6</a:t>
                      </a:r>
                    </a:p>
                  </a:txBody>
                  <a:tcPr marL="9525" marR="9525" marT="9525" marB="0" anchor="ct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16.6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36.5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49.9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1.7</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0.5</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423</a:t>
                      </a:r>
                    </a:p>
                  </a:txBody>
                  <a:tcPr marL="9525" marR="9525" marT="9525" marB="0" anchor="ctr">
                    <a:lnL>
                      <a:noFill/>
                    </a:lnL>
                  </a:tcPr>
                </a:tc>
                <a:tc>
                  <a:txBody>
                    <a:bodyPr/>
                    <a:lstStyle/>
                    <a:p>
                      <a:pPr algn="ctr" fontAlgn="b"/>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425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424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425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416</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416</a:t>
                      </a:r>
                    </a:p>
                  </a:txBody>
                  <a:tcPr marL="9525" marR="9525" marT="9525" marB="0" anchor="ctr"/>
                </a:tc>
                <a:extLst>
                  <a:ext uri="{0D108BD9-81ED-4DB2-BD59-A6C34878D82A}">
                    <a16:rowId xmlns:a16="http://schemas.microsoft.com/office/drawing/2014/main" val="3798857500"/>
                  </a:ext>
                </a:extLst>
              </a:tr>
            </a:tbl>
          </a:graphicData>
        </a:graphic>
      </p:graphicFrame>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spTree>
    <p:extLst>
      <p:ext uri="{BB962C8B-B14F-4D97-AF65-F5344CB8AC3E}">
        <p14:creationId xmlns:p14="http://schemas.microsoft.com/office/powerpoint/2010/main" val="1342932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ggetto 9"/>
          <p:cNvGraphicFramePr>
            <a:graphicFrameLocks noChangeAspect="1"/>
          </p:cNvGraphicFramePr>
          <p:nvPr>
            <p:extLst>
              <p:ext uri="{D42A27DB-BD31-4B8C-83A1-F6EECF244321}">
                <p14:modId xmlns:p14="http://schemas.microsoft.com/office/powerpoint/2010/main" val="2699554622"/>
              </p:ext>
            </p:extLst>
          </p:nvPr>
        </p:nvGraphicFramePr>
        <p:xfrm>
          <a:off x="286800" y="2215288"/>
          <a:ext cx="5084333" cy="3798968"/>
        </p:xfrm>
        <a:graphic>
          <a:graphicData uri="http://schemas.openxmlformats.org/presentationml/2006/ole">
            <mc:AlternateContent xmlns:mc="http://schemas.openxmlformats.org/markup-compatibility/2006">
              <mc:Choice xmlns:v="urn:schemas-microsoft-com:vml" Requires="v">
                <p:oleObj spid="_x0000_s12593" name="Bitmap Image" r:id="rId4" imgW="2260440" imgH="1689120" progId="Paint.Picture">
                  <p:embed/>
                </p:oleObj>
              </mc:Choice>
              <mc:Fallback>
                <p:oleObj name="Bitmap Image" r:id="rId4" imgW="2260440" imgH="1689120" progId="Paint.Picture">
                  <p:embed/>
                  <p:pic>
                    <p:nvPicPr>
                      <p:cNvPr id="0" name=""/>
                      <p:cNvPicPr/>
                      <p:nvPr/>
                    </p:nvPicPr>
                    <p:blipFill>
                      <a:blip r:embed="rId5"/>
                      <a:stretch>
                        <a:fillRect/>
                      </a:stretch>
                    </p:blipFill>
                    <p:spPr>
                      <a:xfrm>
                        <a:off x="286800" y="2215288"/>
                        <a:ext cx="5084333" cy="3798968"/>
                      </a:xfrm>
                      <a:prstGeom prst="rect">
                        <a:avLst/>
                      </a:prstGeom>
                    </p:spPr>
                  </p:pic>
                </p:oleObj>
              </mc:Fallback>
            </mc:AlternateContent>
          </a:graphicData>
        </a:graphic>
      </p:graphicFrame>
      <p:sp>
        <p:nvSpPr>
          <p:cNvPr id="20" name="Rettangolo 19"/>
          <p:cNvSpPr/>
          <p:nvPr/>
        </p:nvSpPr>
        <p:spPr>
          <a:xfrm>
            <a:off x="-2745" y="0"/>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 name="Rettangolo 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graphicFrame>
        <p:nvGraphicFramePr>
          <p:cNvPr id="3" name="Oggetto 2"/>
          <p:cNvGraphicFramePr>
            <a:graphicFrameLocks noChangeAspect="1"/>
          </p:cNvGraphicFramePr>
          <p:nvPr>
            <p:extLst>
              <p:ext uri="{D42A27DB-BD31-4B8C-83A1-F6EECF244321}">
                <p14:modId xmlns:p14="http://schemas.microsoft.com/office/powerpoint/2010/main" val="3968550978"/>
              </p:ext>
            </p:extLst>
          </p:nvPr>
        </p:nvGraphicFramePr>
        <p:xfrm>
          <a:off x="5615258" y="3633625"/>
          <a:ext cx="2585131" cy="2338493"/>
        </p:xfrm>
        <a:graphic>
          <a:graphicData uri="http://schemas.openxmlformats.org/presentationml/2006/ole">
            <mc:AlternateContent xmlns:mc="http://schemas.openxmlformats.org/markup-compatibility/2006">
              <mc:Choice xmlns:v="urn:schemas-microsoft-com:vml" Requires="v">
                <p:oleObj spid="_x0000_s12594" name="Bitmap Image" r:id="rId7" imgW="3594240" imgH="3251160" progId="PBrush">
                  <p:embed/>
                </p:oleObj>
              </mc:Choice>
              <mc:Fallback>
                <p:oleObj name="Bitmap Image" r:id="rId7" imgW="3594240" imgH="3251160" progId="PBrush">
                  <p:embed/>
                  <p:pic>
                    <p:nvPicPr>
                      <p:cNvPr id="0" name=""/>
                      <p:cNvPicPr/>
                      <p:nvPr/>
                    </p:nvPicPr>
                    <p:blipFill>
                      <a:blip r:embed="rId8"/>
                      <a:stretch>
                        <a:fillRect/>
                      </a:stretch>
                    </p:blipFill>
                    <p:spPr>
                      <a:xfrm>
                        <a:off x="5615258" y="3633625"/>
                        <a:ext cx="2585131" cy="2338493"/>
                      </a:xfrm>
                      <a:prstGeom prst="rect">
                        <a:avLst/>
                      </a:prstGeom>
                    </p:spPr>
                  </p:pic>
                </p:oleObj>
              </mc:Fallback>
            </mc:AlternateContent>
          </a:graphicData>
        </a:graphic>
      </p:graphicFrame>
      <p:sp>
        <p:nvSpPr>
          <p:cNvPr id="4" name="CasellaDiTesto 3"/>
          <p:cNvSpPr txBox="1"/>
          <p:nvPr/>
        </p:nvSpPr>
        <p:spPr>
          <a:xfrm>
            <a:off x="286800" y="812253"/>
            <a:ext cx="5328458" cy="1292662"/>
          </a:xfrm>
          <a:prstGeom prst="rect">
            <a:avLst/>
          </a:prstGeom>
          <a:noFill/>
        </p:spPr>
        <p:txBody>
          <a:bodyPr wrap="square" rtlCol="0">
            <a:spAutoFit/>
          </a:bodyPr>
          <a:lstStyle/>
          <a:p>
            <a:r>
              <a:rPr lang="en-US" sz="1200" dirty="0"/>
              <a:t>Maize</a:t>
            </a:r>
            <a:r>
              <a:rPr lang="en-US" dirty="0"/>
              <a:t> </a:t>
            </a:r>
            <a:r>
              <a:rPr lang="en-US" sz="1200" dirty="0"/>
              <a:t>(</a:t>
            </a:r>
            <a:r>
              <a:rPr lang="en-US" sz="1200" dirty="0" err="1"/>
              <a:t>Zea</a:t>
            </a:r>
            <a:r>
              <a:rPr lang="en-US" sz="1200" dirty="0"/>
              <a:t> mays L.) green forage, particularly when it contains the stalks, leaves and ears, is an energy-rich feed for ruminant livestock. While maize forage is usually ensiled in cooler regions, year-round maize production in the tropics may allow the continuous harvesting of green forage, making ensiling </a:t>
            </a:r>
            <a:r>
              <a:rPr lang="en-US" sz="1200" dirty="0" err="1"/>
              <a:t>unnecessaryGrazing</a:t>
            </a:r>
            <a:r>
              <a:rPr lang="en-US" sz="1200" dirty="0"/>
              <a:t> whole maize plants also provides green fodder to livestock in periods of scarcity (dry and hot summers, and winters).</a:t>
            </a:r>
            <a:endParaRPr lang="it-IT" sz="1200" dirty="0"/>
          </a:p>
        </p:txBody>
      </p:sp>
      <p:graphicFrame>
        <p:nvGraphicFramePr>
          <p:cNvPr id="16" name="Tabella 15"/>
          <p:cNvGraphicFramePr>
            <a:graphicFrameLocks noGrp="1"/>
          </p:cNvGraphicFramePr>
          <p:nvPr>
            <p:extLst>
              <p:ext uri="{D42A27DB-BD31-4B8C-83A1-F6EECF244321}">
                <p14:modId xmlns:p14="http://schemas.microsoft.com/office/powerpoint/2010/main" val="408894106"/>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dirty="0">
                          <a:solidFill>
                            <a:srgbClr val="000000"/>
                          </a:solidFill>
                          <a:effectLst/>
                          <a:latin typeface="Calibri" panose="020F0502020204030204" pitchFamily="34" charset="0"/>
                        </a:rPr>
                        <a:t>18.5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0.7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14.9</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28.4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1.3</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68.6</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48.3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11.2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34.6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59.5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3.9</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34.0</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27.1</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26.0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43.2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2.7</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3.5</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5.4</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1.1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0.5</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343</a:t>
                      </a:r>
                    </a:p>
                  </a:txBody>
                  <a:tcPr marL="9525" marR="9525" marT="9525" marB="0" anchor="ctr">
                    <a:lnL>
                      <a:noFill/>
                    </a:lnL>
                  </a:tcPr>
                </a:tc>
                <a:tc>
                  <a:txBody>
                    <a:bodyPr/>
                    <a:lstStyle/>
                    <a:p>
                      <a:pPr algn="ctr" fontAlgn="b"/>
                      <a:r>
                        <a:rPr lang="it-IT" sz="1200" b="0" i="0" u="none" strike="noStrike">
                          <a:solidFill>
                            <a:srgbClr val="000000"/>
                          </a:solidFill>
                          <a:effectLst/>
                          <a:latin typeface="Calibri" panose="020F0502020204030204" pitchFamily="34" charset="0"/>
                        </a:rPr>
                        <a:t>238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238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179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240</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241</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178</a:t>
                      </a:r>
                    </a:p>
                  </a:txBody>
                  <a:tcPr marL="9525" marR="9525" marT="9525" marB="0" anchor="ctr"/>
                </a:tc>
                <a:extLst>
                  <a:ext uri="{0D108BD9-81ED-4DB2-BD59-A6C34878D82A}">
                    <a16:rowId xmlns:a16="http://schemas.microsoft.com/office/drawing/2014/main" val="3798857500"/>
                  </a:ext>
                </a:extLst>
              </a:tr>
            </a:tbl>
          </a:graphicData>
        </a:graphic>
      </p:graphicFrame>
      <p:sp>
        <p:nvSpPr>
          <p:cNvPr id="19" name="CasellaDiTesto 18"/>
          <p:cNvSpPr txBox="1"/>
          <p:nvPr/>
        </p:nvSpPr>
        <p:spPr>
          <a:xfrm>
            <a:off x="166938" y="28792"/>
            <a:ext cx="2185564" cy="646331"/>
          </a:xfrm>
          <a:prstGeom prst="rect">
            <a:avLst/>
          </a:prstGeom>
          <a:noFill/>
        </p:spPr>
        <p:txBody>
          <a:bodyPr wrap="square" rtlCol="0">
            <a:spAutoFit/>
          </a:bodyPr>
          <a:lstStyle/>
          <a:p>
            <a:r>
              <a:rPr lang="it-IT" b="1" dirty="0" smtClean="0">
                <a:solidFill>
                  <a:schemeClr val="bg1"/>
                </a:solidFill>
              </a:rPr>
              <a:t>Green </a:t>
            </a:r>
            <a:r>
              <a:rPr lang="it-IT" b="1" dirty="0" err="1" smtClean="0">
                <a:solidFill>
                  <a:schemeClr val="bg1"/>
                </a:solidFill>
              </a:rPr>
              <a:t>Maize</a:t>
            </a:r>
            <a:endParaRPr lang="it-IT" b="1" dirty="0">
              <a:solidFill>
                <a:schemeClr val="bg1"/>
              </a:solidFill>
            </a:endParaRPr>
          </a:p>
          <a:p>
            <a:r>
              <a:rPr lang="it-IT" dirty="0">
                <a:solidFill>
                  <a:schemeClr val="bg1"/>
                </a:solidFill>
              </a:rPr>
              <a:t>NIR ID# </a:t>
            </a:r>
            <a:r>
              <a:rPr lang="it-IT" dirty="0" smtClean="0">
                <a:solidFill>
                  <a:schemeClr val="bg1"/>
                </a:solidFill>
              </a:rPr>
              <a:t>15</a:t>
            </a:r>
            <a:endParaRPr lang="it-IT" dirty="0">
              <a:solidFill>
                <a:schemeClr val="bg1"/>
              </a:solidFill>
            </a:endParaRPr>
          </a:p>
        </p:txBody>
      </p:sp>
      <p:sp>
        <p:nvSpPr>
          <p:cNvPr id="21" name="CasellaDiTesto 20"/>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spTree>
    <p:extLst>
      <p:ext uri="{BB962C8B-B14F-4D97-AF65-F5344CB8AC3E}">
        <p14:creationId xmlns:p14="http://schemas.microsoft.com/office/powerpoint/2010/main" val="1717306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7194" y="-976"/>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166938" y="28792"/>
            <a:ext cx="1205523" cy="646331"/>
          </a:xfrm>
          <a:prstGeom prst="rect">
            <a:avLst/>
          </a:prstGeom>
          <a:noFill/>
        </p:spPr>
        <p:txBody>
          <a:bodyPr wrap="none" rtlCol="0">
            <a:spAutoFit/>
          </a:bodyPr>
          <a:lstStyle/>
          <a:p>
            <a:r>
              <a:rPr lang="it-IT" b="1" dirty="0" err="1">
                <a:solidFill>
                  <a:schemeClr val="bg1"/>
                </a:solidFill>
              </a:rPr>
              <a:t>Corn</a:t>
            </a:r>
            <a:r>
              <a:rPr lang="it-IT" b="1" dirty="0">
                <a:solidFill>
                  <a:schemeClr val="bg1"/>
                </a:solidFill>
              </a:rPr>
              <a:t> </a:t>
            </a:r>
            <a:r>
              <a:rPr lang="it-IT" b="1" dirty="0" err="1" smtClean="0">
                <a:solidFill>
                  <a:schemeClr val="bg1"/>
                </a:solidFill>
              </a:rPr>
              <a:t>Grain</a:t>
            </a:r>
            <a:endParaRPr lang="it-IT" b="1" dirty="0">
              <a:solidFill>
                <a:schemeClr val="bg1"/>
              </a:solidFill>
            </a:endParaRPr>
          </a:p>
          <a:p>
            <a:r>
              <a:rPr lang="it-IT" dirty="0">
                <a:solidFill>
                  <a:schemeClr val="bg1"/>
                </a:solidFill>
              </a:rPr>
              <a:t>NIR ID# 8</a:t>
            </a:r>
          </a:p>
        </p:txBody>
      </p:sp>
      <p:sp>
        <p:nvSpPr>
          <p:cNvPr id="4" name="CasellaDiTesto 3"/>
          <p:cNvSpPr txBox="1"/>
          <p:nvPr/>
        </p:nvSpPr>
        <p:spPr>
          <a:xfrm>
            <a:off x="286800" y="880237"/>
            <a:ext cx="6418900" cy="1200329"/>
          </a:xfrm>
          <a:prstGeom prst="rect">
            <a:avLst/>
          </a:prstGeom>
          <a:noFill/>
        </p:spPr>
        <p:txBody>
          <a:bodyPr wrap="square" rtlCol="0">
            <a:spAutoFit/>
          </a:bodyPr>
          <a:lstStyle/>
          <a:p>
            <a:r>
              <a:rPr lang="en-US" sz="1200" dirty="0"/>
              <a:t>Maize (</a:t>
            </a:r>
            <a:r>
              <a:rPr lang="en-US" sz="1200" dirty="0" err="1"/>
              <a:t>Zea</a:t>
            </a:r>
            <a:r>
              <a:rPr lang="en-US" sz="1200" dirty="0"/>
              <a:t> mays L.) is a major staple food grain throughout the world, particularly in Africa, Latin America and Asia, and a major feedstuff in developed countries. The maize grain has many food (grain, flour, syrup, oil…) and non-food usages (cosmetics, adhesives, paints, varnishes). Maize starch and oil are also major </a:t>
            </a:r>
            <a:r>
              <a:rPr lang="en-US" sz="1200" dirty="0" smtClean="0"/>
              <a:t>products. </a:t>
            </a:r>
            <a:r>
              <a:rPr lang="en-US" sz="1200" dirty="0"/>
              <a:t>The maize grain is a major feed grain and a standard component of livestock diets where it is used as a source of energy. Other grains are typically compared to maize when their nutritional value is estimated. </a:t>
            </a:r>
            <a:endParaRPr lang="it-IT" sz="1200" dirty="0"/>
          </a:p>
        </p:txBody>
      </p:sp>
      <p:graphicFrame>
        <p:nvGraphicFramePr>
          <p:cNvPr id="2" name="Tabella 1"/>
          <p:cNvGraphicFramePr>
            <a:graphicFrameLocks noGrp="1"/>
          </p:cNvGraphicFramePr>
          <p:nvPr>
            <p:extLst>
              <p:ext uri="{D42A27DB-BD31-4B8C-83A1-F6EECF244321}">
                <p14:modId xmlns:p14="http://schemas.microsoft.com/office/powerpoint/2010/main" val="2219290478"/>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64.2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67.6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7.2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6.9</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2.9</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89.7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75.7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11.4</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12.4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5.4</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83.6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72.2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8.7</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3.9</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4.4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0.7</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0.4</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173</a:t>
                      </a:r>
                    </a:p>
                  </a:txBody>
                  <a:tcPr marL="9525" marR="9525" marT="9525" marB="0" anchor="ctr">
                    <a:lnL>
                      <a:noFill/>
                    </a:lnL>
                  </a:tcPr>
                </a:tc>
                <a:tc>
                  <a:txBody>
                    <a:bodyPr/>
                    <a:lstStyle/>
                    <a:p>
                      <a:pPr algn="ctr" fontAlgn="b"/>
                      <a:r>
                        <a:rPr lang="it-IT" sz="1200" b="0" i="0" u="none" strike="noStrike">
                          <a:solidFill>
                            <a:srgbClr val="000000"/>
                          </a:solidFill>
                          <a:effectLst/>
                          <a:latin typeface="Calibri" panose="020F0502020204030204" pitchFamily="34" charset="0"/>
                        </a:rPr>
                        <a:t>172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209</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206</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214</a:t>
                      </a:r>
                    </a:p>
                  </a:txBody>
                  <a:tcPr marL="9525" marR="9525" marT="9525" marB="0" anchor="ctr"/>
                </a:tc>
                <a:extLst>
                  <a:ext uri="{0D108BD9-81ED-4DB2-BD59-A6C34878D82A}">
                    <a16:rowId xmlns:a16="http://schemas.microsoft.com/office/drawing/2014/main" val="3798857500"/>
                  </a:ext>
                </a:extLst>
              </a:tr>
            </a:tbl>
          </a:graphicData>
        </a:graphic>
      </p:graphicFrame>
      <p:sp>
        <p:nvSpPr>
          <p:cNvPr id="16" name="Rettangolo 1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graphicFrame>
        <p:nvGraphicFramePr>
          <p:cNvPr id="13" name="Oggetto 12"/>
          <p:cNvGraphicFramePr>
            <a:graphicFrameLocks noChangeAspect="1"/>
          </p:cNvGraphicFramePr>
          <p:nvPr>
            <p:extLst>
              <p:ext uri="{D42A27DB-BD31-4B8C-83A1-F6EECF244321}">
                <p14:modId xmlns:p14="http://schemas.microsoft.com/office/powerpoint/2010/main" val="358037592"/>
              </p:ext>
            </p:extLst>
          </p:nvPr>
        </p:nvGraphicFramePr>
        <p:xfrm>
          <a:off x="384928" y="2310938"/>
          <a:ext cx="4922682" cy="3662156"/>
        </p:xfrm>
        <a:graphic>
          <a:graphicData uri="http://schemas.openxmlformats.org/presentationml/2006/ole">
            <mc:AlternateContent xmlns:mc="http://schemas.openxmlformats.org/markup-compatibility/2006">
              <mc:Choice xmlns:v="urn:schemas-microsoft-com:vml" Requires="v">
                <p:oleObj spid="_x0000_s15372" name="Bitmap Image" r:id="rId5" imgW="4711680" imgH="3505320" progId="PBrush">
                  <p:embed/>
                </p:oleObj>
              </mc:Choice>
              <mc:Fallback>
                <p:oleObj name="Bitmap Image" r:id="rId5" imgW="4711680" imgH="3505320" progId="PBrush">
                  <p:embed/>
                  <p:pic>
                    <p:nvPicPr>
                      <p:cNvPr id="8" name="Oggetto 7"/>
                      <p:cNvPicPr/>
                      <p:nvPr/>
                    </p:nvPicPr>
                    <p:blipFill>
                      <a:blip r:embed="rId6"/>
                      <a:stretch>
                        <a:fillRect/>
                      </a:stretch>
                    </p:blipFill>
                    <p:spPr>
                      <a:xfrm>
                        <a:off x="384928" y="2310938"/>
                        <a:ext cx="4922682" cy="3662156"/>
                      </a:xfrm>
                      <a:prstGeom prst="rect">
                        <a:avLst/>
                      </a:prstGeom>
                    </p:spPr>
                  </p:pic>
                </p:oleObj>
              </mc:Fallback>
            </mc:AlternateContent>
          </a:graphicData>
        </a:graphic>
      </p:graphicFrame>
      <p:pic>
        <p:nvPicPr>
          <p:cNvPr id="15367" name="Picture 7" descr="Election news dominating the grain markets - Farm and Dairy"/>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08971" y="3839393"/>
            <a:ext cx="3641516" cy="213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534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7194" y="-976"/>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166938" y="28792"/>
            <a:ext cx="1395767" cy="646331"/>
          </a:xfrm>
          <a:prstGeom prst="rect">
            <a:avLst/>
          </a:prstGeom>
          <a:noFill/>
        </p:spPr>
        <p:txBody>
          <a:bodyPr wrap="none" rtlCol="0">
            <a:spAutoFit/>
          </a:bodyPr>
          <a:lstStyle/>
          <a:p>
            <a:r>
              <a:rPr lang="it-IT" b="1" dirty="0" err="1" smtClean="0">
                <a:solidFill>
                  <a:schemeClr val="bg1"/>
                </a:solidFill>
              </a:rPr>
              <a:t>Wheat</a:t>
            </a:r>
            <a:r>
              <a:rPr lang="it-IT" b="1" dirty="0" smtClean="0">
                <a:solidFill>
                  <a:schemeClr val="bg1"/>
                </a:solidFill>
              </a:rPr>
              <a:t> </a:t>
            </a:r>
            <a:r>
              <a:rPr lang="it-IT" b="1" dirty="0" err="1" smtClean="0">
                <a:solidFill>
                  <a:schemeClr val="bg1"/>
                </a:solidFill>
              </a:rPr>
              <a:t>Grain</a:t>
            </a:r>
            <a:endParaRPr lang="it-IT" b="1" dirty="0">
              <a:solidFill>
                <a:schemeClr val="bg1"/>
              </a:solidFill>
            </a:endParaRPr>
          </a:p>
          <a:p>
            <a:r>
              <a:rPr lang="it-IT" dirty="0">
                <a:solidFill>
                  <a:schemeClr val="bg1"/>
                </a:solidFill>
              </a:rPr>
              <a:t>NIR ID# </a:t>
            </a:r>
            <a:r>
              <a:rPr lang="it-IT" dirty="0" smtClean="0">
                <a:solidFill>
                  <a:schemeClr val="bg1"/>
                </a:solidFill>
              </a:rPr>
              <a:t>9</a:t>
            </a:r>
          </a:p>
        </p:txBody>
      </p:sp>
      <p:sp>
        <p:nvSpPr>
          <p:cNvPr id="4" name="CasellaDiTesto 3"/>
          <p:cNvSpPr txBox="1"/>
          <p:nvPr/>
        </p:nvSpPr>
        <p:spPr>
          <a:xfrm>
            <a:off x="286800" y="880237"/>
            <a:ext cx="6418900" cy="1384995"/>
          </a:xfrm>
          <a:prstGeom prst="rect">
            <a:avLst/>
          </a:prstGeom>
          <a:noFill/>
        </p:spPr>
        <p:txBody>
          <a:bodyPr wrap="square" rtlCol="0">
            <a:spAutoFit/>
          </a:bodyPr>
          <a:lstStyle/>
          <a:p>
            <a:r>
              <a:rPr lang="en-US" sz="1200" dirty="0"/>
              <a:t>Wheat grain (</a:t>
            </a:r>
            <a:r>
              <a:rPr lang="en-US" sz="1200" dirty="0" err="1"/>
              <a:t>Triticum</a:t>
            </a:r>
            <a:r>
              <a:rPr lang="en-US" sz="1200" dirty="0"/>
              <a:t> spp.) is a major staple food that provides about 20% of food energy and protein worldwide. Wheat is also an excellent energy source for farm animals: in 2007, 102 million tons (16.7% of worldwide production) were used to feed animals. This proportion is higher in </a:t>
            </a:r>
            <a:r>
              <a:rPr lang="en-US" sz="1200" dirty="0" err="1"/>
              <a:t>industrialised</a:t>
            </a:r>
            <a:r>
              <a:rPr lang="en-US" sz="1200" dirty="0"/>
              <a:t> countries: in the EU-27 in 2007, 42% of wheat production was used as feed (FAO, 2011). Feed wheat is often surplus to human requirements or low-quality wheat unsuitable for human consumption (low test weight or damaged wheat), but wheat is also grown specifically for feed purposes (Blair, 2008; </a:t>
            </a:r>
            <a:r>
              <a:rPr lang="en-US" sz="1200" dirty="0" err="1"/>
              <a:t>Lalman</a:t>
            </a:r>
            <a:r>
              <a:rPr lang="en-US" sz="1200" dirty="0"/>
              <a:t> et al., 2011). </a:t>
            </a:r>
            <a:endParaRPr lang="it-IT" sz="1200" dirty="0"/>
          </a:p>
        </p:txBody>
      </p:sp>
      <p:graphicFrame>
        <p:nvGraphicFramePr>
          <p:cNvPr id="2" name="Tabella 1"/>
          <p:cNvGraphicFramePr>
            <a:graphicFrameLocks noGrp="1"/>
          </p:cNvGraphicFramePr>
          <p:nvPr>
            <p:extLst>
              <p:ext uri="{D42A27DB-BD31-4B8C-83A1-F6EECF244321}">
                <p14:modId xmlns:p14="http://schemas.microsoft.com/office/powerpoint/2010/main" val="1460357267"/>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80.4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60.1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9.2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1.1</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91.4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69.1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21.2</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2.2</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87.6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65.2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13.5</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1.7</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2.1</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0.2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0.2</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255</a:t>
                      </a:r>
                    </a:p>
                  </a:txBody>
                  <a:tcPr marL="9525" marR="9525" marT="9525" marB="0" anchor="ctr">
                    <a:lnL>
                      <a:noFill/>
                    </a:lnL>
                  </a:tcPr>
                </a:tc>
                <a:tc>
                  <a:txBody>
                    <a:bodyPr/>
                    <a:lstStyle/>
                    <a:p>
                      <a:pPr algn="ctr" fontAlgn="b"/>
                      <a:r>
                        <a:rPr lang="it-IT" sz="1200" b="0" i="0" u="none" strike="noStrike">
                          <a:solidFill>
                            <a:srgbClr val="000000"/>
                          </a:solidFill>
                          <a:effectLst/>
                          <a:latin typeface="Calibri" panose="020F0502020204030204" pitchFamily="34" charset="0"/>
                        </a:rPr>
                        <a:t>252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246</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78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181</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243</a:t>
                      </a:r>
                    </a:p>
                  </a:txBody>
                  <a:tcPr marL="9525" marR="9525" marT="9525" marB="0" anchor="ctr"/>
                </a:tc>
                <a:extLst>
                  <a:ext uri="{0D108BD9-81ED-4DB2-BD59-A6C34878D82A}">
                    <a16:rowId xmlns:a16="http://schemas.microsoft.com/office/drawing/2014/main" val="3798857500"/>
                  </a:ext>
                </a:extLst>
              </a:tr>
            </a:tbl>
          </a:graphicData>
        </a:graphic>
      </p:graphicFrame>
      <p:sp>
        <p:nvSpPr>
          <p:cNvPr id="16" name="Rettangolo 1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pic>
        <p:nvPicPr>
          <p:cNvPr id="16386" name="Picture 2" descr="Understanding Wheat Protein Content - Engra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066" y="2736278"/>
            <a:ext cx="5178905" cy="3236816"/>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6"/>
          <p:cNvPicPr>
            <a:picLocks noChangeAspect="1"/>
          </p:cNvPicPr>
          <p:nvPr/>
        </p:nvPicPr>
        <p:blipFill>
          <a:blip r:embed="rId5"/>
          <a:stretch>
            <a:fillRect/>
          </a:stretch>
        </p:blipFill>
        <p:spPr>
          <a:xfrm>
            <a:off x="5575645" y="3791799"/>
            <a:ext cx="4765387" cy="2181296"/>
          </a:xfrm>
          <a:prstGeom prst="rect">
            <a:avLst/>
          </a:prstGeom>
        </p:spPr>
      </p:pic>
    </p:spTree>
    <p:extLst>
      <p:ext uri="{BB962C8B-B14F-4D97-AF65-F5344CB8AC3E}">
        <p14:creationId xmlns:p14="http://schemas.microsoft.com/office/powerpoint/2010/main" val="250284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7194" y="-976"/>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166938" y="28792"/>
            <a:ext cx="1358898" cy="646331"/>
          </a:xfrm>
          <a:prstGeom prst="rect">
            <a:avLst/>
          </a:prstGeom>
          <a:noFill/>
        </p:spPr>
        <p:txBody>
          <a:bodyPr wrap="none" rtlCol="0">
            <a:spAutoFit/>
          </a:bodyPr>
          <a:lstStyle/>
          <a:p>
            <a:r>
              <a:rPr lang="it-IT" b="1" dirty="0" err="1" smtClean="0">
                <a:solidFill>
                  <a:schemeClr val="bg1"/>
                </a:solidFill>
              </a:rPr>
              <a:t>Barley</a:t>
            </a:r>
            <a:r>
              <a:rPr lang="it-IT" b="1" dirty="0" smtClean="0">
                <a:solidFill>
                  <a:schemeClr val="bg1"/>
                </a:solidFill>
              </a:rPr>
              <a:t> </a:t>
            </a:r>
            <a:r>
              <a:rPr lang="it-IT" b="1" dirty="0" err="1" smtClean="0">
                <a:solidFill>
                  <a:schemeClr val="bg1"/>
                </a:solidFill>
              </a:rPr>
              <a:t>Grain</a:t>
            </a:r>
            <a:endParaRPr lang="it-IT" b="1" dirty="0">
              <a:solidFill>
                <a:schemeClr val="bg1"/>
              </a:solidFill>
            </a:endParaRPr>
          </a:p>
          <a:p>
            <a:r>
              <a:rPr lang="it-IT" dirty="0">
                <a:solidFill>
                  <a:schemeClr val="bg1"/>
                </a:solidFill>
              </a:rPr>
              <a:t>NIR ID# </a:t>
            </a:r>
            <a:r>
              <a:rPr lang="it-IT" dirty="0" smtClean="0">
                <a:solidFill>
                  <a:schemeClr val="bg1"/>
                </a:solidFill>
              </a:rPr>
              <a:t>25</a:t>
            </a:r>
            <a:endParaRPr lang="it-IT" dirty="0" smtClean="0">
              <a:solidFill>
                <a:schemeClr val="bg1"/>
              </a:solidFill>
            </a:endParaRPr>
          </a:p>
        </p:txBody>
      </p:sp>
      <p:sp>
        <p:nvSpPr>
          <p:cNvPr id="4" name="CasellaDiTesto 3"/>
          <p:cNvSpPr txBox="1"/>
          <p:nvPr/>
        </p:nvSpPr>
        <p:spPr>
          <a:xfrm>
            <a:off x="286800" y="880237"/>
            <a:ext cx="6418900" cy="646331"/>
          </a:xfrm>
          <a:prstGeom prst="rect">
            <a:avLst/>
          </a:prstGeom>
          <a:noFill/>
        </p:spPr>
        <p:txBody>
          <a:bodyPr wrap="square" rtlCol="0">
            <a:spAutoFit/>
          </a:bodyPr>
          <a:lstStyle/>
          <a:p>
            <a:r>
              <a:rPr lang="en-US" sz="1200" dirty="0"/>
              <a:t>Barley (</a:t>
            </a:r>
            <a:r>
              <a:rPr lang="en-US" sz="1200" dirty="0" err="1"/>
              <a:t>Hordeum</a:t>
            </a:r>
            <a:r>
              <a:rPr lang="en-US" sz="1200" dirty="0"/>
              <a:t> </a:t>
            </a:r>
            <a:r>
              <a:rPr lang="en-US" sz="1200" dirty="0" err="1"/>
              <a:t>vulgare</a:t>
            </a:r>
            <a:r>
              <a:rPr lang="en-US" sz="1200" dirty="0"/>
              <a:t> L.) is one of the main cereal crops. With 150 million tons produced in 2009, barley grain production ranked fourth behind maize, rice and wheat (FAO, 2011). Developing countries account for about 25% of the total barley harvested area (</a:t>
            </a:r>
            <a:r>
              <a:rPr lang="en-US" sz="1200" dirty="0" err="1"/>
              <a:t>Akar</a:t>
            </a:r>
            <a:r>
              <a:rPr lang="en-US" sz="1200" dirty="0"/>
              <a:t> et al., 2003).</a:t>
            </a:r>
            <a:endParaRPr lang="it-IT" sz="1200" dirty="0"/>
          </a:p>
        </p:txBody>
      </p:sp>
      <p:graphicFrame>
        <p:nvGraphicFramePr>
          <p:cNvPr id="2" name="Tabella 1"/>
          <p:cNvGraphicFramePr>
            <a:graphicFrameLocks noGrp="1"/>
          </p:cNvGraphicFramePr>
          <p:nvPr>
            <p:extLst>
              <p:ext uri="{D42A27DB-BD31-4B8C-83A1-F6EECF244321}">
                <p14:modId xmlns:p14="http://schemas.microsoft.com/office/powerpoint/2010/main" val="1582929637"/>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83.2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47.1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8.3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5.5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16.3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2.7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1.7</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90.8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59.8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15.9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24.1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2.7</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87.9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55.0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10.9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18.7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2.1</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0.1</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190</a:t>
                      </a:r>
                    </a:p>
                  </a:txBody>
                  <a:tcPr marL="9525" marR="9525" marT="9525" marB="0" anchor="ctr">
                    <a:lnL>
                      <a:noFill/>
                    </a:lnL>
                  </a:tcPr>
                </a:tc>
                <a:tc>
                  <a:txBody>
                    <a:bodyPr/>
                    <a:lstStyle/>
                    <a:p>
                      <a:pPr algn="ctr" fontAlgn="b"/>
                      <a:r>
                        <a:rPr lang="it-IT" sz="1200" b="0" i="0" u="none" strike="noStrike">
                          <a:solidFill>
                            <a:srgbClr val="000000"/>
                          </a:solidFill>
                          <a:effectLst/>
                          <a:latin typeface="Calibri" panose="020F0502020204030204" pitchFamily="34" charset="0"/>
                        </a:rPr>
                        <a:t>131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63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85</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91</a:t>
                      </a:r>
                    </a:p>
                  </a:txBody>
                  <a:tcPr marL="9525" marR="9525" marT="9525" marB="0" anchor="ctr"/>
                </a:tc>
                <a:extLst>
                  <a:ext uri="{0D108BD9-81ED-4DB2-BD59-A6C34878D82A}">
                    <a16:rowId xmlns:a16="http://schemas.microsoft.com/office/drawing/2014/main" val="3798857500"/>
                  </a:ext>
                </a:extLst>
              </a:tr>
            </a:tbl>
          </a:graphicData>
        </a:graphic>
      </p:graphicFrame>
      <p:sp>
        <p:nvSpPr>
          <p:cNvPr id="16" name="Rettangolo 1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graphicFrame>
        <p:nvGraphicFramePr>
          <p:cNvPr id="13" name="Oggetto 12"/>
          <p:cNvGraphicFramePr>
            <a:graphicFrameLocks noChangeAspect="1"/>
          </p:cNvGraphicFramePr>
          <p:nvPr>
            <p:extLst>
              <p:ext uri="{D42A27DB-BD31-4B8C-83A1-F6EECF244321}">
                <p14:modId xmlns:p14="http://schemas.microsoft.com/office/powerpoint/2010/main" val="1688737469"/>
              </p:ext>
            </p:extLst>
          </p:nvPr>
        </p:nvGraphicFramePr>
        <p:xfrm>
          <a:off x="190969" y="2378015"/>
          <a:ext cx="5384676" cy="3595079"/>
        </p:xfrm>
        <a:graphic>
          <a:graphicData uri="http://schemas.openxmlformats.org/presentationml/2006/ole">
            <mc:AlternateContent xmlns:mc="http://schemas.openxmlformats.org/markup-compatibility/2006">
              <mc:Choice xmlns:v="urn:schemas-microsoft-com:vml" Requires="v">
                <p:oleObj spid="_x0000_s17414" name="Bitmap Image" r:id="rId5" imgW="6458040" imgH="4311720" progId="PBrush">
                  <p:embed/>
                </p:oleObj>
              </mc:Choice>
              <mc:Fallback>
                <p:oleObj name="Bitmap Image" r:id="rId5" imgW="6458040" imgH="4311720" progId="PBrush">
                  <p:embed/>
                  <p:pic>
                    <p:nvPicPr>
                      <p:cNvPr id="2" name="Oggetto 1"/>
                      <p:cNvPicPr/>
                      <p:nvPr/>
                    </p:nvPicPr>
                    <p:blipFill>
                      <a:blip r:embed="rId6"/>
                      <a:stretch>
                        <a:fillRect/>
                      </a:stretch>
                    </p:blipFill>
                    <p:spPr>
                      <a:xfrm>
                        <a:off x="190969" y="2378015"/>
                        <a:ext cx="5384676" cy="3595079"/>
                      </a:xfrm>
                      <a:prstGeom prst="rect">
                        <a:avLst/>
                      </a:prstGeom>
                    </p:spPr>
                  </p:pic>
                </p:oleObj>
              </mc:Fallback>
            </mc:AlternateContent>
          </a:graphicData>
        </a:graphic>
      </p:graphicFrame>
      <p:pic>
        <p:nvPicPr>
          <p:cNvPr id="6" name="Immagine 5"/>
          <p:cNvPicPr>
            <a:picLocks noChangeAspect="1"/>
          </p:cNvPicPr>
          <p:nvPr/>
        </p:nvPicPr>
        <p:blipFill>
          <a:blip r:embed="rId7"/>
          <a:stretch>
            <a:fillRect/>
          </a:stretch>
        </p:blipFill>
        <p:spPr>
          <a:xfrm>
            <a:off x="5710380" y="3952158"/>
            <a:ext cx="5300396" cy="2013929"/>
          </a:xfrm>
          <a:prstGeom prst="rect">
            <a:avLst/>
          </a:prstGeom>
        </p:spPr>
      </p:pic>
    </p:spTree>
    <p:extLst>
      <p:ext uri="{BB962C8B-B14F-4D97-AF65-F5344CB8AC3E}">
        <p14:creationId xmlns:p14="http://schemas.microsoft.com/office/powerpoint/2010/main" val="79285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7194" y="-976"/>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166938" y="28792"/>
            <a:ext cx="1571264" cy="646331"/>
          </a:xfrm>
          <a:prstGeom prst="rect">
            <a:avLst/>
          </a:prstGeom>
          <a:noFill/>
        </p:spPr>
        <p:txBody>
          <a:bodyPr wrap="none" rtlCol="0">
            <a:spAutoFit/>
          </a:bodyPr>
          <a:lstStyle/>
          <a:p>
            <a:r>
              <a:rPr lang="it-IT" b="1" dirty="0" err="1" smtClean="0">
                <a:solidFill>
                  <a:schemeClr val="bg1"/>
                </a:solidFill>
              </a:rPr>
              <a:t>Soybean</a:t>
            </a:r>
            <a:r>
              <a:rPr lang="it-IT" b="1" dirty="0" smtClean="0">
                <a:solidFill>
                  <a:schemeClr val="bg1"/>
                </a:solidFill>
              </a:rPr>
              <a:t> </a:t>
            </a:r>
            <a:r>
              <a:rPr lang="it-IT" b="1" dirty="0" err="1" smtClean="0">
                <a:solidFill>
                  <a:schemeClr val="bg1"/>
                </a:solidFill>
              </a:rPr>
              <a:t>Grain</a:t>
            </a:r>
            <a:endParaRPr lang="it-IT" b="1" dirty="0">
              <a:solidFill>
                <a:schemeClr val="bg1"/>
              </a:solidFill>
            </a:endParaRPr>
          </a:p>
          <a:p>
            <a:r>
              <a:rPr lang="it-IT" dirty="0">
                <a:solidFill>
                  <a:schemeClr val="bg1"/>
                </a:solidFill>
              </a:rPr>
              <a:t>NIR ID# </a:t>
            </a:r>
            <a:r>
              <a:rPr lang="it-IT" dirty="0" smtClean="0">
                <a:solidFill>
                  <a:schemeClr val="bg1"/>
                </a:solidFill>
              </a:rPr>
              <a:t>59</a:t>
            </a:r>
          </a:p>
        </p:txBody>
      </p:sp>
      <p:sp>
        <p:nvSpPr>
          <p:cNvPr id="4" name="CasellaDiTesto 3"/>
          <p:cNvSpPr txBox="1"/>
          <p:nvPr/>
        </p:nvSpPr>
        <p:spPr>
          <a:xfrm>
            <a:off x="286800" y="880237"/>
            <a:ext cx="6418900" cy="1200329"/>
          </a:xfrm>
          <a:prstGeom prst="rect">
            <a:avLst/>
          </a:prstGeom>
          <a:noFill/>
        </p:spPr>
        <p:txBody>
          <a:bodyPr wrap="square" rtlCol="0">
            <a:spAutoFit/>
          </a:bodyPr>
          <a:lstStyle/>
          <a:p>
            <a:r>
              <a:rPr lang="en-US" sz="1200" dirty="0"/>
              <a:t>Soybean (Glycine max (L.) </a:t>
            </a:r>
            <a:r>
              <a:rPr lang="en-US" sz="1200" dirty="0" err="1"/>
              <a:t>Merr</a:t>
            </a:r>
            <a:r>
              <a:rPr lang="en-US" sz="1200" dirty="0"/>
              <a:t>.) is the largest oilseed crop, with 276 million t produced in 2013, the main producers being the USA, Brazil, Argentina and China. The value of the crop is partly driven by the demand for soybean meal, which is the by-product of oil extraction, one of the major feed commodities (172 million t used worldwide in 2011) and the main protein source in many animal diets (FAO, 2015). Whole soybean seeds, usually called soybeans or full-fat soybeans to differentiate them from soybean meal, are also used for animal feeding.</a:t>
            </a:r>
            <a:endParaRPr lang="it-IT" sz="1200" dirty="0"/>
          </a:p>
        </p:txBody>
      </p:sp>
      <p:graphicFrame>
        <p:nvGraphicFramePr>
          <p:cNvPr id="2" name="Tabella 1"/>
          <p:cNvGraphicFramePr>
            <a:graphicFrameLocks noGrp="1"/>
          </p:cNvGraphicFramePr>
          <p:nvPr>
            <p:extLst>
              <p:ext uri="{D42A27DB-BD31-4B8C-83A1-F6EECF244321}">
                <p14:modId xmlns:p14="http://schemas.microsoft.com/office/powerpoint/2010/main" val="1426413054"/>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73.0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34.1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7.4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9.2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19.4</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92.4</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55.8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10.2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12.3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8.0</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28.3</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87.3</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40.4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8.6</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10.3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23.2</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3.7</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3.4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0.7</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1.9</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dirty="0">
                          <a:solidFill>
                            <a:srgbClr val="000000"/>
                          </a:solidFill>
                          <a:effectLst/>
                          <a:latin typeface="Calibri" panose="020F0502020204030204" pitchFamily="34" charset="0"/>
                        </a:rPr>
                        <a:t>63</a:t>
                      </a:r>
                    </a:p>
                  </a:txBody>
                  <a:tcPr marL="9525" marR="9525" marT="9525" marB="0" anchor="ctr">
                    <a:lnL>
                      <a:noFill/>
                    </a:lnL>
                  </a:tcP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59</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57</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60</a:t>
                      </a:r>
                    </a:p>
                  </a:txBody>
                  <a:tcPr marL="9525" marR="9525" marT="9525" marB="0" anchor="ctr"/>
                </a:tc>
                <a:extLst>
                  <a:ext uri="{0D108BD9-81ED-4DB2-BD59-A6C34878D82A}">
                    <a16:rowId xmlns:a16="http://schemas.microsoft.com/office/drawing/2014/main" val="3798857500"/>
                  </a:ext>
                </a:extLst>
              </a:tr>
            </a:tbl>
          </a:graphicData>
        </a:graphic>
      </p:graphicFrame>
      <p:sp>
        <p:nvSpPr>
          <p:cNvPr id="16" name="Rettangolo 1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graphicFrame>
        <p:nvGraphicFramePr>
          <p:cNvPr id="14" name="Oggetto 13"/>
          <p:cNvGraphicFramePr>
            <a:graphicFrameLocks noChangeAspect="1"/>
          </p:cNvGraphicFramePr>
          <p:nvPr>
            <p:extLst>
              <p:ext uri="{D42A27DB-BD31-4B8C-83A1-F6EECF244321}">
                <p14:modId xmlns:p14="http://schemas.microsoft.com/office/powerpoint/2010/main" val="1563284274"/>
              </p:ext>
            </p:extLst>
          </p:nvPr>
        </p:nvGraphicFramePr>
        <p:xfrm>
          <a:off x="286800" y="2453077"/>
          <a:ext cx="5318855" cy="3513010"/>
        </p:xfrm>
        <a:graphic>
          <a:graphicData uri="http://schemas.openxmlformats.org/presentationml/2006/ole">
            <mc:AlternateContent xmlns:mc="http://schemas.openxmlformats.org/markup-compatibility/2006">
              <mc:Choice xmlns:v="urn:schemas-microsoft-com:vml" Requires="v">
                <p:oleObj spid="_x0000_s18440" name="Bitmap Image" r:id="rId5" imgW="3422520" imgH="2260440" progId="PBrush">
                  <p:embed/>
                </p:oleObj>
              </mc:Choice>
              <mc:Fallback>
                <p:oleObj name="Bitmap Image" r:id="rId5" imgW="3422520" imgH="2260440" progId="PBrush">
                  <p:embed/>
                  <p:pic>
                    <p:nvPicPr>
                      <p:cNvPr id="4" name="Oggetto 3"/>
                      <p:cNvPicPr/>
                      <p:nvPr/>
                    </p:nvPicPr>
                    <p:blipFill>
                      <a:blip r:embed="rId6"/>
                      <a:stretch>
                        <a:fillRect/>
                      </a:stretch>
                    </p:blipFill>
                    <p:spPr>
                      <a:xfrm>
                        <a:off x="286800" y="2453077"/>
                        <a:ext cx="5318855" cy="3513010"/>
                      </a:xfrm>
                      <a:prstGeom prst="rect">
                        <a:avLst/>
                      </a:prstGeom>
                    </p:spPr>
                  </p:pic>
                </p:oleObj>
              </mc:Fallback>
            </mc:AlternateContent>
          </a:graphicData>
        </a:graphic>
      </p:graphicFrame>
      <p:graphicFrame>
        <p:nvGraphicFramePr>
          <p:cNvPr id="15" name="Oggetto 14"/>
          <p:cNvGraphicFramePr>
            <a:graphicFrameLocks noChangeAspect="1"/>
          </p:cNvGraphicFramePr>
          <p:nvPr>
            <p:extLst>
              <p:ext uri="{D42A27DB-BD31-4B8C-83A1-F6EECF244321}">
                <p14:modId xmlns:p14="http://schemas.microsoft.com/office/powerpoint/2010/main" val="3192356812"/>
              </p:ext>
            </p:extLst>
          </p:nvPr>
        </p:nvGraphicFramePr>
        <p:xfrm>
          <a:off x="5689331" y="3721273"/>
          <a:ext cx="5338316" cy="2251821"/>
        </p:xfrm>
        <a:graphic>
          <a:graphicData uri="http://schemas.openxmlformats.org/presentationml/2006/ole">
            <mc:AlternateContent xmlns:mc="http://schemas.openxmlformats.org/markup-compatibility/2006">
              <mc:Choice xmlns:v="urn:schemas-microsoft-com:vml" Requires="v">
                <p:oleObj spid="_x0000_s18441" name="Bitmap Image" r:id="rId7" imgW="5645160" imgH="2381400" progId="PBrush">
                  <p:embed/>
                </p:oleObj>
              </mc:Choice>
              <mc:Fallback>
                <p:oleObj name="Bitmap Image" r:id="rId7" imgW="5645160" imgH="2381400" progId="PBrush">
                  <p:embed/>
                  <p:pic>
                    <p:nvPicPr>
                      <p:cNvPr id="8" name="Oggetto 7"/>
                      <p:cNvPicPr/>
                      <p:nvPr/>
                    </p:nvPicPr>
                    <p:blipFill>
                      <a:blip r:embed="rId8"/>
                      <a:stretch>
                        <a:fillRect/>
                      </a:stretch>
                    </p:blipFill>
                    <p:spPr>
                      <a:xfrm>
                        <a:off x="5689331" y="3721273"/>
                        <a:ext cx="5338316" cy="2251821"/>
                      </a:xfrm>
                      <a:prstGeom prst="rect">
                        <a:avLst/>
                      </a:prstGeom>
                    </p:spPr>
                  </p:pic>
                </p:oleObj>
              </mc:Fallback>
            </mc:AlternateContent>
          </a:graphicData>
        </a:graphic>
      </p:graphicFrame>
    </p:spTree>
    <p:extLst>
      <p:ext uri="{BB962C8B-B14F-4D97-AF65-F5344CB8AC3E}">
        <p14:creationId xmlns:p14="http://schemas.microsoft.com/office/powerpoint/2010/main" val="2796195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7194" y="-976"/>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166938" y="28792"/>
            <a:ext cx="1683218" cy="646331"/>
          </a:xfrm>
          <a:prstGeom prst="rect">
            <a:avLst/>
          </a:prstGeom>
          <a:noFill/>
        </p:spPr>
        <p:txBody>
          <a:bodyPr wrap="none" rtlCol="0">
            <a:spAutoFit/>
          </a:bodyPr>
          <a:lstStyle/>
          <a:p>
            <a:r>
              <a:rPr lang="it-IT" b="1" dirty="0" err="1" smtClean="0">
                <a:solidFill>
                  <a:schemeClr val="bg1"/>
                </a:solidFill>
              </a:rPr>
              <a:t>Rapeseed</a:t>
            </a:r>
            <a:r>
              <a:rPr lang="it-IT" b="1" dirty="0" smtClean="0">
                <a:solidFill>
                  <a:schemeClr val="bg1"/>
                </a:solidFill>
              </a:rPr>
              <a:t> </a:t>
            </a:r>
            <a:r>
              <a:rPr lang="it-IT" b="1" dirty="0" err="1" smtClean="0">
                <a:solidFill>
                  <a:schemeClr val="bg1"/>
                </a:solidFill>
              </a:rPr>
              <a:t>Grain</a:t>
            </a:r>
            <a:endParaRPr lang="it-IT" b="1" dirty="0">
              <a:solidFill>
                <a:schemeClr val="bg1"/>
              </a:solidFill>
            </a:endParaRPr>
          </a:p>
          <a:p>
            <a:r>
              <a:rPr lang="it-IT" dirty="0">
                <a:solidFill>
                  <a:schemeClr val="bg1"/>
                </a:solidFill>
              </a:rPr>
              <a:t>NIR ID# </a:t>
            </a:r>
            <a:r>
              <a:rPr lang="it-IT" dirty="0" smtClean="0">
                <a:solidFill>
                  <a:schemeClr val="bg1"/>
                </a:solidFill>
              </a:rPr>
              <a:t>143</a:t>
            </a:r>
          </a:p>
        </p:txBody>
      </p:sp>
      <p:sp>
        <p:nvSpPr>
          <p:cNvPr id="4" name="CasellaDiTesto 3"/>
          <p:cNvSpPr txBox="1"/>
          <p:nvPr/>
        </p:nvSpPr>
        <p:spPr>
          <a:xfrm>
            <a:off x="286800" y="880237"/>
            <a:ext cx="6418900" cy="1384995"/>
          </a:xfrm>
          <a:prstGeom prst="rect">
            <a:avLst/>
          </a:prstGeom>
          <a:noFill/>
        </p:spPr>
        <p:txBody>
          <a:bodyPr wrap="square" rtlCol="0">
            <a:spAutoFit/>
          </a:bodyPr>
          <a:lstStyle/>
          <a:p>
            <a:r>
              <a:rPr lang="en-US" sz="1200" dirty="0"/>
              <a:t>Rapeseeds - called canola seeds in North America and other countries - are the seeds of the oilseed rape </a:t>
            </a:r>
            <a:r>
              <a:rPr lang="en-US" sz="1200" dirty="0" smtClean="0"/>
              <a:t>plant. Rapeseeds </a:t>
            </a:r>
            <a:r>
              <a:rPr lang="en-US" sz="1200" dirty="0"/>
              <a:t>are the 3rd source of both vegetable oil (after soybean and oil palm) and oil meal (after soybean and cotton). They are the most widely cultivated crop species in the </a:t>
            </a:r>
            <a:r>
              <a:rPr lang="en-US" sz="1200" dirty="0" err="1"/>
              <a:t>Brassicaceae</a:t>
            </a:r>
            <a:r>
              <a:rPr lang="en-US" sz="1200" dirty="0"/>
              <a:t> family, which also includes cabbages, mustards, turnips, radishes and cauliflowers. </a:t>
            </a:r>
            <a:r>
              <a:rPr lang="en-US" sz="1200" dirty="0" smtClean="0"/>
              <a:t>Modern </a:t>
            </a:r>
            <a:r>
              <a:rPr lang="en-US" sz="1200" dirty="0"/>
              <a:t>rapeseed varieties with low concentrations in </a:t>
            </a:r>
            <a:r>
              <a:rPr lang="en-US" sz="1200" dirty="0" err="1"/>
              <a:t>erucic</a:t>
            </a:r>
            <a:r>
              <a:rPr lang="en-US" sz="1200" dirty="0"/>
              <a:t> acid and glucosinolates </a:t>
            </a:r>
            <a:r>
              <a:rPr lang="en-US" sz="1200" dirty="0" smtClean="0"/>
              <a:t>are </a:t>
            </a:r>
            <a:r>
              <a:rPr lang="en-US" sz="1200" dirty="0"/>
              <a:t>mainly used for edible oil, biofuel, industrial oil and lubricants. Rapeseeds are also a valuable energy feed for livestock due to their high protein and lipid content.</a:t>
            </a:r>
            <a:endParaRPr lang="it-IT" sz="1200" dirty="0"/>
          </a:p>
        </p:txBody>
      </p:sp>
      <p:graphicFrame>
        <p:nvGraphicFramePr>
          <p:cNvPr id="2" name="Tabella 1"/>
          <p:cNvGraphicFramePr>
            <a:graphicFrameLocks noGrp="1"/>
          </p:cNvGraphicFramePr>
          <p:nvPr>
            <p:extLst>
              <p:ext uri="{D42A27DB-BD31-4B8C-83A1-F6EECF244321}">
                <p14:modId xmlns:p14="http://schemas.microsoft.com/office/powerpoint/2010/main" val="2670238867"/>
              </p:ext>
            </p:extLst>
          </p:nvPr>
        </p:nvGraphicFramePr>
        <p:xfrm>
          <a:off x="5804510" y="2037258"/>
          <a:ext cx="5425984" cy="1404210"/>
        </p:xfrm>
        <a:graphic>
          <a:graphicData uri="http://schemas.openxmlformats.org/drawingml/2006/table">
            <a:tbl>
              <a:tblPr>
                <a:tableStyleId>{9D7B26C5-4107-4FEC-AEDC-1716B250A1EF}</a:tableStyleId>
              </a:tblPr>
              <a:tblGrid>
                <a:gridCol w="957527">
                  <a:extLst>
                    <a:ext uri="{9D8B030D-6E8A-4147-A177-3AD203B41FA5}">
                      <a16:colId xmlns:a16="http://schemas.microsoft.com/office/drawing/2014/main" val="795853291"/>
                    </a:ext>
                  </a:extLst>
                </a:gridCol>
                <a:gridCol w="638351">
                  <a:extLst>
                    <a:ext uri="{9D8B030D-6E8A-4147-A177-3AD203B41FA5}">
                      <a16:colId xmlns:a16="http://schemas.microsoft.com/office/drawing/2014/main" val="2764138266"/>
                    </a:ext>
                  </a:extLst>
                </a:gridCol>
                <a:gridCol w="638351">
                  <a:extLst>
                    <a:ext uri="{9D8B030D-6E8A-4147-A177-3AD203B41FA5}">
                      <a16:colId xmlns:a16="http://schemas.microsoft.com/office/drawing/2014/main" val="2364851180"/>
                    </a:ext>
                  </a:extLst>
                </a:gridCol>
                <a:gridCol w="638351">
                  <a:extLst>
                    <a:ext uri="{9D8B030D-6E8A-4147-A177-3AD203B41FA5}">
                      <a16:colId xmlns:a16="http://schemas.microsoft.com/office/drawing/2014/main" val="2252365472"/>
                    </a:ext>
                  </a:extLst>
                </a:gridCol>
                <a:gridCol w="638351">
                  <a:extLst>
                    <a:ext uri="{9D8B030D-6E8A-4147-A177-3AD203B41FA5}">
                      <a16:colId xmlns:a16="http://schemas.microsoft.com/office/drawing/2014/main" val="3930543560"/>
                    </a:ext>
                  </a:extLst>
                </a:gridCol>
                <a:gridCol w="638351">
                  <a:extLst>
                    <a:ext uri="{9D8B030D-6E8A-4147-A177-3AD203B41FA5}">
                      <a16:colId xmlns:a16="http://schemas.microsoft.com/office/drawing/2014/main" val="541203506"/>
                    </a:ext>
                  </a:extLst>
                </a:gridCol>
                <a:gridCol w="638351">
                  <a:extLst>
                    <a:ext uri="{9D8B030D-6E8A-4147-A177-3AD203B41FA5}">
                      <a16:colId xmlns:a16="http://schemas.microsoft.com/office/drawing/2014/main" val="3470105098"/>
                    </a:ext>
                  </a:extLst>
                </a:gridCol>
                <a:gridCol w="638351">
                  <a:extLst>
                    <a:ext uri="{9D8B030D-6E8A-4147-A177-3AD203B41FA5}">
                      <a16:colId xmlns:a16="http://schemas.microsoft.com/office/drawing/2014/main" val="1599079812"/>
                    </a:ext>
                  </a:extLst>
                </a:gridCol>
              </a:tblGrid>
              <a:tr h="234035">
                <a:tc>
                  <a:txBody>
                    <a:bodyPr/>
                    <a:lstStyle/>
                    <a:p>
                      <a:pPr algn="l" fontAlgn="b"/>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it-IT" sz="1200" b="1" u="none" strike="noStrike" dirty="0">
                          <a:effectLst/>
                        </a:rPr>
                        <a:t>DM</a:t>
                      </a:r>
                      <a:endParaRPr lang="it-IT" sz="1200" b="1" i="0" u="none" strike="noStrike" dirty="0">
                        <a:solidFill>
                          <a:srgbClr val="000000"/>
                        </a:solidFill>
                        <a:effectLst/>
                        <a:latin typeface="Calibri" panose="020F0502020204030204" pitchFamily="34" charset="0"/>
                      </a:endParaRPr>
                    </a:p>
                  </a:txBody>
                  <a:tcPr marL="9525" marR="9525" marT="9525" marB="0" anchor="ctr">
                    <a:lnL>
                      <a:noFill/>
                    </a:lnL>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Starch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C.Protein</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ADF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a:effectLst/>
                        </a:rPr>
                        <a:t>NDF</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Ash</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it-IT" sz="1200" b="1" u="none" strike="noStrike" dirty="0" err="1">
                          <a:effectLst/>
                        </a:rPr>
                        <a:t>C.Fat</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608815"/>
                  </a:ext>
                </a:extLst>
              </a:tr>
              <a:tr h="234035">
                <a:tc>
                  <a:txBody>
                    <a:bodyPr/>
                    <a:lstStyle/>
                    <a:p>
                      <a:pPr algn="l" fontAlgn="b"/>
                      <a:r>
                        <a:rPr lang="it-IT" sz="1200" u="none" strike="noStrike" dirty="0">
                          <a:effectLst/>
                        </a:rPr>
                        <a:t>MIN</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no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89.8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15.3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9.3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12.4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it-IT" sz="1200" b="0" i="0" u="none" strike="noStrike">
                          <a:solidFill>
                            <a:srgbClr val="000000"/>
                          </a:solidFill>
                          <a:effectLst/>
                          <a:latin typeface="Calibri" panose="020F0502020204030204" pitchFamily="34" charset="0"/>
                        </a:rPr>
                        <a:t>42.2</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31817410"/>
                  </a:ext>
                </a:extLst>
              </a:tr>
              <a:tr h="234035">
                <a:tc>
                  <a:txBody>
                    <a:bodyPr/>
                    <a:lstStyle/>
                    <a:p>
                      <a:pPr algn="l" fontAlgn="b"/>
                      <a:r>
                        <a:rPr lang="it-IT" sz="1200" u="none" strike="noStrike" dirty="0">
                          <a:effectLst/>
                        </a:rPr>
                        <a:t>MAX</a:t>
                      </a:r>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94.0</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24.2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12.8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15.4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52.4</a:t>
                      </a:r>
                    </a:p>
                  </a:txBody>
                  <a:tcPr marL="9525" marR="9525" marT="9525" marB="0" anchor="ctr"/>
                </a:tc>
                <a:extLst>
                  <a:ext uri="{0D108BD9-81ED-4DB2-BD59-A6C34878D82A}">
                    <a16:rowId xmlns:a16="http://schemas.microsoft.com/office/drawing/2014/main" val="3744822844"/>
                  </a:ext>
                </a:extLst>
              </a:tr>
              <a:tr h="234035">
                <a:tc>
                  <a:txBody>
                    <a:bodyPr/>
                    <a:lstStyle/>
                    <a:p>
                      <a:pPr algn="l" fontAlgn="b"/>
                      <a:r>
                        <a:rPr lang="it-IT" sz="1200" u="none" strike="noStrike">
                          <a:effectLst/>
                        </a:rPr>
                        <a:t>Average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92.4</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19.5</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11.3</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14.2</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48.3</a:t>
                      </a:r>
                    </a:p>
                  </a:txBody>
                  <a:tcPr marL="9525" marR="9525" marT="9525" marB="0" anchor="ctr"/>
                </a:tc>
                <a:extLst>
                  <a:ext uri="{0D108BD9-81ED-4DB2-BD59-A6C34878D82A}">
                    <a16:rowId xmlns:a16="http://schemas.microsoft.com/office/drawing/2014/main" val="2429568171"/>
                  </a:ext>
                </a:extLst>
              </a:tr>
              <a:tr h="234035">
                <a:tc>
                  <a:txBody>
                    <a:bodyPr/>
                    <a:lstStyle/>
                    <a:p>
                      <a:pPr algn="l" fontAlgn="b"/>
                      <a:r>
                        <a:rPr lang="it-IT" sz="1200" u="none" strike="noStrike">
                          <a:effectLst/>
                        </a:rPr>
                        <a:t>SD</a:t>
                      </a:r>
                      <a:endParaRPr lang="it-IT" sz="1200" b="0" i="0" u="none" strike="noStrike">
                        <a:solidFill>
                          <a:srgbClr val="000000"/>
                        </a:solidFill>
                        <a:effectLst/>
                        <a:latin typeface="Calibri" panose="020F0502020204030204" pitchFamily="34" charset="0"/>
                      </a:endParaRPr>
                    </a:p>
                  </a:txBody>
                  <a:tcPr marL="9525" marR="9525" marT="9525" marB="0" anchor="ctr">
                    <a:lnB>
                      <a:noFill/>
                    </a:lnB>
                  </a:tcPr>
                </a:tc>
                <a:tc>
                  <a:txBody>
                    <a:bodyPr/>
                    <a:lstStyle/>
                    <a:p>
                      <a:pPr algn="ctr" fontAlgn="b"/>
                      <a:r>
                        <a:rPr lang="it-IT" sz="1200" b="0" i="0" u="none" strike="noStrike">
                          <a:solidFill>
                            <a:srgbClr val="000000"/>
                          </a:solidFill>
                          <a:effectLst/>
                          <a:latin typeface="Calibri" panose="020F0502020204030204" pitchFamily="34" charset="0"/>
                        </a:rPr>
                        <a:t>1.0</a:t>
                      </a:r>
                    </a:p>
                  </a:txBody>
                  <a:tcPr marL="9525" marR="9525" marT="9525" marB="0" anchor="ct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1.8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1.4</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0.1</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1.9</a:t>
                      </a:r>
                    </a:p>
                  </a:txBody>
                  <a:tcPr marL="9525" marR="9525" marT="9525" marB="0" anchor="ctr"/>
                </a:tc>
                <a:extLst>
                  <a:ext uri="{0D108BD9-81ED-4DB2-BD59-A6C34878D82A}">
                    <a16:rowId xmlns:a16="http://schemas.microsoft.com/office/drawing/2014/main" val="2986030745"/>
                  </a:ext>
                </a:extLst>
              </a:tr>
              <a:tr h="234035">
                <a:tc>
                  <a:txBody>
                    <a:bodyPr/>
                    <a:lstStyle/>
                    <a:p>
                      <a:pPr algn="l" fontAlgn="b"/>
                      <a:r>
                        <a:rPr lang="it-IT" sz="1200" u="none" strike="noStrike" dirty="0" err="1">
                          <a:effectLst/>
                        </a:rPr>
                        <a:t>N.Samples</a:t>
                      </a:r>
                      <a:endParaRPr lang="it-IT"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it-IT" sz="1200" b="0" i="0" u="none" strike="noStrike">
                          <a:solidFill>
                            <a:srgbClr val="000000"/>
                          </a:solidFill>
                          <a:effectLst/>
                          <a:latin typeface="Calibri" panose="020F0502020204030204" pitchFamily="34" charset="0"/>
                        </a:rPr>
                        <a:t>95</a:t>
                      </a:r>
                    </a:p>
                  </a:txBody>
                  <a:tcPr marL="9525" marR="9525" marT="9525" marB="0" anchor="ctr">
                    <a:lnL>
                      <a:noFill/>
                    </a:lnL>
                  </a:tcPr>
                </a:tc>
                <a:tc>
                  <a:txBody>
                    <a:bodyPr/>
                    <a:lstStyle/>
                    <a:p>
                      <a:pPr algn="ctr" fontAlgn="b"/>
                      <a:endParaRPr lang="it-IT"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98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it-IT" sz="1200" b="0" i="0" u="none" strike="noStrike">
                          <a:solidFill>
                            <a:srgbClr val="000000"/>
                          </a:solidFill>
                          <a:effectLst/>
                          <a:latin typeface="Calibri" panose="020F0502020204030204" pitchFamily="34" charset="0"/>
                        </a:rPr>
                        <a:t>8</a:t>
                      </a:r>
                    </a:p>
                  </a:txBody>
                  <a:tcPr marL="9525" marR="9525" marT="9525" marB="0" anchor="ctr"/>
                </a:tc>
                <a:tc>
                  <a:txBody>
                    <a:bodyPr/>
                    <a:lstStyle/>
                    <a:p>
                      <a:pPr algn="ctr" fontAlgn="b"/>
                      <a:r>
                        <a:rPr lang="it-IT" sz="1200" b="0" i="0" u="none" strike="noStrike" dirty="0">
                          <a:solidFill>
                            <a:srgbClr val="000000"/>
                          </a:solidFill>
                          <a:effectLst/>
                          <a:latin typeface="Calibri" panose="020F0502020204030204" pitchFamily="34" charset="0"/>
                        </a:rPr>
                        <a:t>86</a:t>
                      </a:r>
                    </a:p>
                  </a:txBody>
                  <a:tcPr marL="9525" marR="9525" marT="9525" marB="0" anchor="ctr"/>
                </a:tc>
                <a:extLst>
                  <a:ext uri="{0D108BD9-81ED-4DB2-BD59-A6C34878D82A}">
                    <a16:rowId xmlns:a16="http://schemas.microsoft.com/office/drawing/2014/main" val="3798857500"/>
                  </a:ext>
                </a:extLst>
              </a:tr>
            </a:tbl>
          </a:graphicData>
        </a:graphic>
      </p:graphicFrame>
      <p:sp>
        <p:nvSpPr>
          <p:cNvPr id="16" name="Rettangolo 1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19" name="CasellaDiTesto 18"/>
          <p:cNvSpPr txBox="1"/>
          <p:nvPr/>
        </p:nvSpPr>
        <p:spPr>
          <a:xfrm>
            <a:off x="10211975" y="3387404"/>
            <a:ext cx="1124026" cy="246221"/>
          </a:xfrm>
          <a:prstGeom prst="rect">
            <a:avLst/>
          </a:prstGeom>
          <a:noFill/>
        </p:spPr>
        <p:txBody>
          <a:bodyPr wrap="none" rtlCol="0">
            <a:spAutoFit/>
          </a:bodyPr>
          <a:lstStyle/>
          <a:p>
            <a:r>
              <a:rPr lang="it-IT" sz="1000" dirty="0" smtClean="0"/>
              <a:t>*Dry </a:t>
            </a:r>
            <a:r>
              <a:rPr lang="it-IT" sz="1000" dirty="0" err="1" smtClean="0"/>
              <a:t>Matter</a:t>
            </a:r>
            <a:r>
              <a:rPr lang="it-IT" sz="1000" dirty="0" smtClean="0"/>
              <a:t> base</a:t>
            </a:r>
            <a:endParaRPr lang="it-IT" sz="1000" dirty="0"/>
          </a:p>
        </p:txBody>
      </p:sp>
      <p:pic>
        <p:nvPicPr>
          <p:cNvPr id="6" name="Immagine 5"/>
          <p:cNvPicPr>
            <a:picLocks noChangeAspect="1"/>
          </p:cNvPicPr>
          <p:nvPr/>
        </p:nvPicPr>
        <p:blipFill>
          <a:blip r:embed="rId4"/>
          <a:stretch>
            <a:fillRect/>
          </a:stretch>
        </p:blipFill>
        <p:spPr>
          <a:xfrm>
            <a:off x="358726" y="2367790"/>
            <a:ext cx="5143500" cy="3600450"/>
          </a:xfrm>
          <a:prstGeom prst="rect">
            <a:avLst/>
          </a:prstGeom>
        </p:spPr>
      </p:pic>
      <p:pic>
        <p:nvPicPr>
          <p:cNvPr id="19463" name="Picture 7" descr="Rape seed harvest - Stock Image - C007/3618 - Science Photo Library"/>
          <p:cNvPicPr>
            <a:picLocks noChangeAspect="1" noChangeArrowheads="1"/>
          </p:cNvPicPr>
          <p:nvPr/>
        </p:nvPicPr>
        <p:blipFill rotWithShape="1">
          <a:blip r:embed="rId5">
            <a:extLst>
              <a:ext uri="{28A0092B-C50C-407E-A947-70E740481C1C}">
                <a14:useLocalDpi xmlns:a14="http://schemas.microsoft.com/office/drawing/2010/main" val="0"/>
              </a:ext>
            </a:extLst>
          </a:blip>
          <a:srcRect l="-430" t="10190" r="430" b="17229"/>
          <a:stretch/>
        </p:blipFill>
        <p:spPr bwMode="auto">
          <a:xfrm>
            <a:off x="5677659" y="3765864"/>
            <a:ext cx="4525154" cy="2188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039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2745" y="0"/>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 name="Rettangolo 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78938" y="67984"/>
            <a:ext cx="2846741" cy="461665"/>
          </a:xfrm>
          <a:prstGeom prst="rect">
            <a:avLst/>
          </a:prstGeom>
          <a:noFill/>
        </p:spPr>
        <p:txBody>
          <a:bodyPr wrap="none" rtlCol="0">
            <a:spAutoFit/>
          </a:bodyPr>
          <a:lstStyle/>
          <a:p>
            <a:r>
              <a:rPr lang="it-IT" sz="2400" b="1" dirty="0" smtClean="0">
                <a:solidFill>
                  <a:schemeClr val="bg1"/>
                </a:solidFill>
              </a:rPr>
              <a:t>LEGENDA NUTRIENTI</a:t>
            </a:r>
            <a:endParaRPr lang="it-IT" sz="2400" dirty="0">
              <a:solidFill>
                <a:schemeClr val="bg1"/>
              </a:solidFill>
            </a:endParaRPr>
          </a:p>
        </p:txBody>
      </p:sp>
      <p:graphicFrame>
        <p:nvGraphicFramePr>
          <p:cNvPr id="4" name="Tabella 3"/>
          <p:cNvGraphicFramePr>
            <a:graphicFrameLocks noGrp="1"/>
          </p:cNvGraphicFramePr>
          <p:nvPr>
            <p:extLst>
              <p:ext uri="{D42A27DB-BD31-4B8C-83A1-F6EECF244321}">
                <p14:modId xmlns:p14="http://schemas.microsoft.com/office/powerpoint/2010/main" val="1563055466"/>
              </p:ext>
            </p:extLst>
          </p:nvPr>
        </p:nvGraphicFramePr>
        <p:xfrm>
          <a:off x="286800" y="1129148"/>
          <a:ext cx="6508750" cy="1855120"/>
        </p:xfrm>
        <a:graphic>
          <a:graphicData uri="http://schemas.openxmlformats.org/drawingml/2006/table">
            <a:tbl>
              <a:tblPr>
                <a:tableStyleId>{9D7B26C5-4107-4FEC-AEDC-1716B250A1EF}</a:tableStyleId>
              </a:tblPr>
              <a:tblGrid>
                <a:gridCol w="1059564">
                  <a:extLst>
                    <a:ext uri="{9D8B030D-6E8A-4147-A177-3AD203B41FA5}">
                      <a16:colId xmlns:a16="http://schemas.microsoft.com/office/drawing/2014/main" val="2373511330"/>
                    </a:ext>
                  </a:extLst>
                </a:gridCol>
                <a:gridCol w="1213956">
                  <a:extLst>
                    <a:ext uri="{9D8B030D-6E8A-4147-A177-3AD203B41FA5}">
                      <a16:colId xmlns:a16="http://schemas.microsoft.com/office/drawing/2014/main" val="3029911638"/>
                    </a:ext>
                  </a:extLst>
                </a:gridCol>
                <a:gridCol w="4235230">
                  <a:extLst>
                    <a:ext uri="{9D8B030D-6E8A-4147-A177-3AD203B41FA5}">
                      <a16:colId xmlns:a16="http://schemas.microsoft.com/office/drawing/2014/main" val="1317096204"/>
                    </a:ext>
                  </a:extLst>
                </a:gridCol>
              </a:tblGrid>
              <a:tr h="231890">
                <a:tc>
                  <a:txBody>
                    <a:bodyPr/>
                    <a:lstStyle/>
                    <a:p>
                      <a:pPr algn="l" fontAlgn="b"/>
                      <a:r>
                        <a:rPr lang="it-IT" sz="1200" b="1" u="none" strike="noStrike">
                          <a:effectLst/>
                        </a:rPr>
                        <a:t>Sigla Italiano</a:t>
                      </a:r>
                      <a:endParaRPr lang="it-IT" sz="1200" b="1" i="0" u="none" strike="noStrike">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b"/>
                      <a:r>
                        <a:rPr lang="it-IT" sz="1200" b="1" u="none" strike="noStrike">
                          <a:effectLst/>
                        </a:rPr>
                        <a:t>Nome Inglese</a:t>
                      </a:r>
                      <a:endParaRPr lang="it-IT" sz="1200" b="1" i="0" u="none" strike="noStrike">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b"/>
                      <a:r>
                        <a:rPr lang="it-IT" sz="1200" b="1" u="none" strike="noStrike" dirty="0">
                          <a:effectLst/>
                        </a:rPr>
                        <a:t>Descrizione</a:t>
                      </a:r>
                      <a:endParaRPr lang="it-IT" sz="1200" b="1" i="0" u="none" strike="noStrike" dirty="0">
                        <a:solidFill>
                          <a:srgbClr val="000000"/>
                        </a:solidFill>
                        <a:effectLst/>
                        <a:latin typeface="Calibri" panose="020F0502020204030204" pitchFamily="34"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121978"/>
                  </a:ext>
                </a:extLst>
              </a:tr>
              <a:tr h="231890">
                <a:tc>
                  <a:txBody>
                    <a:bodyPr/>
                    <a:lstStyle/>
                    <a:p>
                      <a:pPr algn="l" fontAlgn="b"/>
                      <a:r>
                        <a:rPr lang="it-IT" sz="1200" u="none" strike="noStrike">
                          <a:effectLst/>
                        </a:rPr>
                        <a:t>SS</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l" fontAlgn="b"/>
                      <a:r>
                        <a:rPr lang="it-IT" sz="1200" u="none" strike="noStrike" dirty="0" smtClean="0">
                          <a:effectLst/>
                        </a:rPr>
                        <a:t>Dry </a:t>
                      </a:r>
                      <a:r>
                        <a:rPr lang="it-IT" sz="1200" u="none" strike="noStrike" dirty="0" err="1" smtClean="0">
                          <a:effectLst/>
                        </a:rPr>
                        <a:t>Matter</a:t>
                      </a:r>
                      <a:r>
                        <a:rPr lang="it-IT" sz="1200" u="none" strike="noStrike" dirty="0" smtClean="0">
                          <a:effectLst/>
                        </a:rPr>
                        <a:t> (DM)</a:t>
                      </a:r>
                      <a:endParaRPr lang="it-IT" sz="12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l" fontAlgn="b"/>
                      <a:r>
                        <a:rPr lang="it-IT" sz="1200" u="none" strike="noStrike">
                          <a:effectLst/>
                        </a:rPr>
                        <a:t>Sostanza secca</a:t>
                      </a:r>
                      <a:endParaRPr lang="it-IT" sz="12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23450849"/>
                  </a:ext>
                </a:extLst>
              </a:tr>
              <a:tr h="231890">
                <a:tc>
                  <a:txBody>
                    <a:bodyPr/>
                    <a:lstStyle/>
                    <a:p>
                      <a:pPr algn="l" fontAlgn="b"/>
                      <a:r>
                        <a:rPr lang="it-IT" sz="1200" u="none" strike="noStrike">
                          <a:effectLst/>
                        </a:rPr>
                        <a:t>AMIDO</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Starch</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Amido, se espresso sul DM base -&gt; AMIDO_SS</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31746873"/>
                  </a:ext>
                </a:extLst>
              </a:tr>
              <a:tr h="231890">
                <a:tc>
                  <a:txBody>
                    <a:bodyPr/>
                    <a:lstStyle/>
                    <a:p>
                      <a:pPr algn="l" fontAlgn="b"/>
                      <a:r>
                        <a:rPr lang="it-IT" sz="1200" u="none" strike="noStrike">
                          <a:effectLst/>
                        </a:rPr>
                        <a:t>PG</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Crude Protein</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Proteina Grezza, se espressa sul DM base --&gt; PG_SS</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82656281"/>
                  </a:ext>
                </a:extLst>
              </a:tr>
              <a:tr h="231890">
                <a:tc>
                  <a:txBody>
                    <a:bodyPr/>
                    <a:lstStyle/>
                    <a:p>
                      <a:pPr algn="l" fontAlgn="b"/>
                      <a:r>
                        <a:rPr lang="it-IT" sz="1200" u="none" strike="noStrike">
                          <a:effectLst/>
                        </a:rPr>
                        <a:t>ADF</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ADF</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Fibra Acido Detersa, se espressa su DM base --&gt; ADF_SS</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6798843"/>
                  </a:ext>
                </a:extLst>
              </a:tr>
              <a:tr h="231890">
                <a:tc>
                  <a:txBody>
                    <a:bodyPr/>
                    <a:lstStyle/>
                    <a:p>
                      <a:pPr algn="l" fontAlgn="b"/>
                      <a:r>
                        <a:rPr lang="it-IT" sz="1200" u="none" strike="noStrike">
                          <a:effectLst/>
                        </a:rPr>
                        <a:t>NDF</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NDF</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Fibra Neutro Detersa, se espressa su DM base --&gt; NDF_SS</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03016869"/>
                  </a:ext>
                </a:extLst>
              </a:tr>
              <a:tr h="231890">
                <a:tc>
                  <a:txBody>
                    <a:bodyPr/>
                    <a:lstStyle/>
                    <a:p>
                      <a:pPr algn="l" fontAlgn="b"/>
                      <a:r>
                        <a:rPr lang="it-IT" sz="1200" u="none" strike="noStrike">
                          <a:effectLst/>
                        </a:rPr>
                        <a:t>CEN</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Ash</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Ceneri, se espresse su DM base --&gt; CEN_SS</a:t>
                      </a:r>
                      <a:endParaRPr lang="it-IT"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27494659"/>
                  </a:ext>
                </a:extLst>
              </a:tr>
              <a:tr h="231890">
                <a:tc>
                  <a:txBody>
                    <a:bodyPr/>
                    <a:lstStyle/>
                    <a:p>
                      <a:pPr algn="l" fontAlgn="b"/>
                      <a:r>
                        <a:rPr lang="it-IT" sz="1200" u="none" strike="noStrike">
                          <a:effectLst/>
                        </a:rPr>
                        <a:t>EE</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a:effectLst/>
                        </a:rPr>
                        <a:t>Crude Fat</a:t>
                      </a:r>
                      <a:endParaRPr lang="it-IT" sz="12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it-IT" sz="1200" u="none" strike="noStrike" dirty="0">
                          <a:effectLst/>
                        </a:rPr>
                        <a:t>Estratto Etereo, se espresso su DM base --&gt; EE_SS</a:t>
                      </a:r>
                      <a:endParaRPr lang="it-IT"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7647624"/>
                  </a:ext>
                </a:extLst>
              </a:tr>
            </a:tbl>
          </a:graphicData>
        </a:graphic>
      </p:graphicFrame>
      <mc:AlternateContent xmlns:mc="http://schemas.openxmlformats.org/markup-compatibility/2006" xmlns:a14="http://schemas.microsoft.com/office/drawing/2010/main">
        <mc:Choice Requires="a14">
          <p:sp>
            <p:nvSpPr>
              <p:cNvPr id="7" name="CasellaDiTesto 6"/>
              <p:cNvSpPr txBox="1"/>
              <p:nvPr/>
            </p:nvSpPr>
            <p:spPr>
              <a:xfrm>
                <a:off x="286800" y="4308314"/>
                <a:ext cx="2965812" cy="694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2400" b="0" i="1" smtClean="0">
                          <a:latin typeface="Cambria Math" panose="02040503050406030204" pitchFamily="18" charset="0"/>
                        </a:rPr>
                        <m:t>𝑁𝑈𝑇</m:t>
                      </m:r>
                      <m:r>
                        <a:rPr lang="it-IT" sz="2400" b="0" i="1" smtClean="0">
                          <a:latin typeface="Cambria Math" panose="02040503050406030204" pitchFamily="18" charset="0"/>
                        </a:rPr>
                        <m:t>_</m:t>
                      </m:r>
                      <m:r>
                        <a:rPr lang="it-IT" sz="2400" b="0" i="1" smtClean="0">
                          <a:latin typeface="Cambria Math" panose="02040503050406030204" pitchFamily="18" charset="0"/>
                        </a:rPr>
                        <m:t>𝑆𝑆</m:t>
                      </m:r>
                      <m:r>
                        <a:rPr lang="it-IT" sz="2400" b="0" i="1" smtClean="0">
                          <a:latin typeface="Cambria Math" panose="02040503050406030204" pitchFamily="18" charset="0"/>
                        </a:rPr>
                        <m:t>=</m:t>
                      </m:r>
                      <m:f>
                        <m:fPr>
                          <m:ctrlPr>
                            <a:rPr lang="it-IT" sz="2400" b="0" i="1" smtClean="0">
                              <a:latin typeface="Cambria Math" panose="02040503050406030204" pitchFamily="18" charset="0"/>
                            </a:rPr>
                          </m:ctrlPr>
                        </m:fPr>
                        <m:num>
                          <m:r>
                            <a:rPr lang="it-IT" sz="2400" b="0" i="1" smtClean="0">
                              <a:latin typeface="Cambria Math" panose="02040503050406030204" pitchFamily="18" charset="0"/>
                            </a:rPr>
                            <m:t>𝑁𝑈𝑇</m:t>
                          </m:r>
                          <m:r>
                            <a:rPr lang="it-IT" sz="2400" b="0" i="1" smtClean="0">
                              <a:latin typeface="Cambria Math" panose="02040503050406030204" pitchFamily="18" charset="0"/>
                            </a:rPr>
                            <m:t>∗100</m:t>
                          </m:r>
                        </m:num>
                        <m:den>
                          <m:r>
                            <a:rPr lang="it-IT" sz="2400" b="0" i="1" smtClean="0">
                              <a:latin typeface="Cambria Math" panose="02040503050406030204" pitchFamily="18" charset="0"/>
                            </a:rPr>
                            <m:t>𝑆𝑆</m:t>
                          </m:r>
                        </m:den>
                      </m:f>
                    </m:oMath>
                  </m:oMathPara>
                </a14:m>
                <a:endParaRPr lang="it-IT" dirty="0"/>
              </a:p>
            </p:txBody>
          </p:sp>
        </mc:Choice>
        <mc:Fallback xmlns="">
          <p:sp>
            <p:nvSpPr>
              <p:cNvPr id="7" name="CasellaDiTesto 6"/>
              <p:cNvSpPr txBox="1">
                <a:spLocks noRot="1" noChangeAspect="1" noMove="1" noResize="1" noEditPoints="1" noAdjustHandles="1" noChangeArrowheads="1" noChangeShapeType="1" noTextEdit="1"/>
              </p:cNvSpPr>
              <p:nvPr/>
            </p:nvSpPr>
            <p:spPr>
              <a:xfrm>
                <a:off x="286800" y="4308314"/>
                <a:ext cx="2965812" cy="694036"/>
              </a:xfrm>
              <a:prstGeom prst="rect">
                <a:avLst/>
              </a:prstGeom>
              <a:blipFill>
                <a:blip r:embed="rId4"/>
                <a:stretch>
                  <a:fillRect/>
                </a:stretch>
              </a:blipFill>
            </p:spPr>
            <p:txBody>
              <a:bodyPr/>
              <a:lstStyle/>
              <a:p>
                <a:r>
                  <a:rPr lang="it-IT">
                    <a:noFill/>
                  </a:rPr>
                  <a:t> </a:t>
                </a:r>
              </a:p>
            </p:txBody>
          </p:sp>
        </mc:Fallback>
      </mc:AlternateContent>
      <p:sp>
        <p:nvSpPr>
          <p:cNvPr id="8" name="CasellaDiTesto 7"/>
          <p:cNvSpPr txBox="1"/>
          <p:nvPr/>
        </p:nvSpPr>
        <p:spPr>
          <a:xfrm>
            <a:off x="286800" y="3808643"/>
            <a:ext cx="8700523" cy="369332"/>
          </a:xfrm>
          <a:prstGeom prst="rect">
            <a:avLst/>
          </a:prstGeom>
          <a:noFill/>
        </p:spPr>
        <p:txBody>
          <a:bodyPr wrap="none" rtlCol="0">
            <a:spAutoFit/>
          </a:bodyPr>
          <a:lstStyle/>
          <a:p>
            <a:r>
              <a:rPr lang="it-IT" dirty="0" smtClean="0"/>
              <a:t>Formula per il passaggio da nutriente espresso AS IS BASE a nutriente espresso su base DM</a:t>
            </a:r>
            <a:endParaRPr lang="it-IT" dirty="0"/>
          </a:p>
        </p:txBody>
      </p:sp>
    </p:spTree>
    <p:extLst>
      <p:ext uri="{BB962C8B-B14F-4D97-AF65-F5344CB8AC3E}">
        <p14:creationId xmlns:p14="http://schemas.microsoft.com/office/powerpoint/2010/main" val="1190756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2745" y="0"/>
            <a:ext cx="12187610" cy="778655"/>
          </a:xfrm>
          <a:prstGeom prst="rect">
            <a:avLst/>
          </a:prstGeom>
          <a:gradFill flip="none" rotWithShape="1">
            <a:gsLst>
              <a:gs pos="62000">
                <a:srgbClr val="242B35"/>
              </a:gs>
              <a:gs pos="0">
                <a:schemeClr val="accent1">
                  <a:lumMod val="5000"/>
                  <a:lumOff val="95000"/>
                </a:schemeClr>
              </a:gs>
              <a:gs pos="0">
                <a:srgbClr val="242B35"/>
              </a:gs>
              <a:gs pos="83000">
                <a:srgbClr val="628255"/>
              </a:gs>
              <a:gs pos="89000">
                <a:srgbClr val="62825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523" y="6146273"/>
            <a:ext cx="2220350" cy="600392"/>
          </a:xfrm>
          <a:prstGeom prst="rect">
            <a:avLst/>
          </a:prstGeom>
        </p:spPr>
      </p:pic>
      <p:sp>
        <p:nvSpPr>
          <p:cNvPr id="6" name="Rettangolo 5"/>
          <p:cNvSpPr/>
          <p:nvPr/>
        </p:nvSpPr>
        <p:spPr>
          <a:xfrm>
            <a:off x="2196" y="6117788"/>
            <a:ext cx="7225511" cy="35987"/>
          </a:xfrm>
          <a:prstGeom prst="rect">
            <a:avLst/>
          </a:prstGeom>
          <a:solidFill>
            <a:srgbClr val="628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19"/>
            <a:endParaRPr lang="en-GB" sz="1799">
              <a:solidFill>
                <a:prstClr val="white"/>
              </a:solidFill>
              <a:latin typeface="Calibri" panose="020F0502020204030204"/>
            </a:endParaRPr>
          </a:p>
        </p:txBody>
      </p:sp>
      <p:sp>
        <p:nvSpPr>
          <p:cNvPr id="66" name="Titolo 3"/>
          <p:cNvSpPr txBox="1">
            <a:spLocks/>
          </p:cNvSpPr>
          <p:nvPr/>
        </p:nvSpPr>
        <p:spPr>
          <a:xfrm>
            <a:off x="286800" y="59444"/>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dirty="0"/>
          </a:p>
        </p:txBody>
      </p:sp>
      <p:sp>
        <p:nvSpPr>
          <p:cNvPr id="67" name="Titolo 3"/>
          <p:cNvSpPr txBox="1">
            <a:spLocks/>
          </p:cNvSpPr>
          <p:nvPr/>
        </p:nvSpPr>
        <p:spPr>
          <a:xfrm>
            <a:off x="4968" y="101582"/>
            <a:ext cx="7889036" cy="573541"/>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it-IT" b="1" dirty="0">
              <a:solidFill>
                <a:schemeClr val="bg1"/>
              </a:solidFill>
              <a:latin typeface="+mn-lt"/>
            </a:endParaRPr>
          </a:p>
        </p:txBody>
      </p:sp>
      <p:sp>
        <p:nvSpPr>
          <p:cNvPr id="5" name="CasellaDiTesto 4"/>
          <p:cNvSpPr txBox="1"/>
          <p:nvPr/>
        </p:nvSpPr>
        <p:spPr>
          <a:xfrm>
            <a:off x="78938" y="67984"/>
            <a:ext cx="3894528" cy="461665"/>
          </a:xfrm>
          <a:prstGeom prst="rect">
            <a:avLst/>
          </a:prstGeom>
          <a:noFill/>
        </p:spPr>
        <p:txBody>
          <a:bodyPr wrap="none" rtlCol="0">
            <a:spAutoFit/>
          </a:bodyPr>
          <a:lstStyle/>
          <a:p>
            <a:r>
              <a:rPr lang="it-IT" sz="2400" b="1" dirty="0" smtClean="0">
                <a:solidFill>
                  <a:schemeClr val="bg1"/>
                </a:solidFill>
              </a:rPr>
              <a:t>BANDE LEGATE AI NUTRIENTI</a:t>
            </a:r>
            <a:endParaRPr lang="it-IT" sz="2400" dirty="0">
              <a:solidFill>
                <a:schemeClr val="bg1"/>
              </a:solidFill>
            </a:endParaRPr>
          </a:p>
        </p:txBody>
      </p:sp>
      <p:graphicFrame>
        <p:nvGraphicFramePr>
          <p:cNvPr id="2" name="Tabella 1"/>
          <p:cNvGraphicFramePr>
            <a:graphicFrameLocks noGrp="1"/>
          </p:cNvGraphicFramePr>
          <p:nvPr>
            <p:extLst>
              <p:ext uri="{D42A27DB-BD31-4B8C-83A1-F6EECF244321}">
                <p14:modId xmlns:p14="http://schemas.microsoft.com/office/powerpoint/2010/main" val="3738978007"/>
              </p:ext>
            </p:extLst>
          </p:nvPr>
        </p:nvGraphicFramePr>
        <p:xfrm>
          <a:off x="286800" y="976053"/>
          <a:ext cx="9921229" cy="4708467"/>
        </p:xfrm>
        <a:graphic>
          <a:graphicData uri="http://schemas.openxmlformats.org/drawingml/2006/table">
            <a:tbl>
              <a:tblPr>
                <a:tableStyleId>{9D7B26C5-4107-4FEC-AEDC-1716B250A1EF}</a:tableStyleId>
              </a:tblPr>
              <a:tblGrid>
                <a:gridCol w="2614342">
                  <a:extLst>
                    <a:ext uri="{9D8B030D-6E8A-4147-A177-3AD203B41FA5}">
                      <a16:colId xmlns:a16="http://schemas.microsoft.com/office/drawing/2014/main" val="1835076707"/>
                    </a:ext>
                  </a:extLst>
                </a:gridCol>
                <a:gridCol w="3024452">
                  <a:extLst>
                    <a:ext uri="{9D8B030D-6E8A-4147-A177-3AD203B41FA5}">
                      <a16:colId xmlns:a16="http://schemas.microsoft.com/office/drawing/2014/main" val="4260980872"/>
                    </a:ext>
                  </a:extLst>
                </a:gridCol>
                <a:gridCol w="2395446">
                  <a:extLst>
                    <a:ext uri="{9D8B030D-6E8A-4147-A177-3AD203B41FA5}">
                      <a16:colId xmlns:a16="http://schemas.microsoft.com/office/drawing/2014/main" val="1796745416"/>
                    </a:ext>
                  </a:extLst>
                </a:gridCol>
                <a:gridCol w="1886989">
                  <a:extLst>
                    <a:ext uri="{9D8B030D-6E8A-4147-A177-3AD203B41FA5}">
                      <a16:colId xmlns:a16="http://schemas.microsoft.com/office/drawing/2014/main" val="3950551728"/>
                    </a:ext>
                  </a:extLst>
                </a:gridCol>
              </a:tblGrid>
              <a:tr h="190500">
                <a:tc>
                  <a:txBody>
                    <a:bodyPr/>
                    <a:lstStyle/>
                    <a:p>
                      <a:pPr algn="l" fontAlgn="t"/>
                      <a:r>
                        <a:rPr lang="it-IT" sz="1100" b="1" u="none" strike="noStrike" dirty="0">
                          <a:effectLst/>
                        </a:rPr>
                        <a:t>Nutrient</a:t>
                      </a:r>
                      <a:endParaRPr lang="it-IT" sz="1100" b="1" i="0" u="none" strike="noStrike" dirty="0">
                        <a:solidFill>
                          <a:srgbClr val="000000"/>
                        </a:solidFill>
                        <a:effectLst/>
                        <a:latin typeface="Calibri" panose="020F0502020204030204" pitchFamily="34" charset="0"/>
                      </a:endParaRPr>
                    </a:p>
                  </a:txBody>
                  <a:tcPr marL="9525" marR="9525" marT="9525" marB="0">
                    <a:lnB w="12700" cap="flat" cmpd="sng" algn="ctr">
                      <a:solidFill>
                        <a:schemeClr val="tx1"/>
                      </a:solidFill>
                      <a:prstDash val="solid"/>
                      <a:round/>
                      <a:headEnd type="none" w="med" len="med"/>
                      <a:tailEnd type="none" w="med" len="med"/>
                    </a:lnB>
                  </a:tcPr>
                </a:tc>
                <a:tc>
                  <a:txBody>
                    <a:bodyPr/>
                    <a:lstStyle/>
                    <a:p>
                      <a:pPr algn="l" fontAlgn="t"/>
                      <a:r>
                        <a:rPr lang="it-IT" sz="1100" b="1" u="none" strike="noStrike" dirty="0">
                          <a:effectLst/>
                        </a:rPr>
                        <a:t>NIR </a:t>
                      </a:r>
                      <a:r>
                        <a:rPr lang="it-IT" sz="1100" b="1" u="none" strike="noStrike" dirty="0" err="1">
                          <a:effectLst/>
                        </a:rPr>
                        <a:t>Region</a:t>
                      </a:r>
                      <a:r>
                        <a:rPr lang="it-IT" sz="1100" b="1" u="none" strike="noStrike" dirty="0">
                          <a:effectLst/>
                        </a:rPr>
                        <a:t> (700–2500 nm)</a:t>
                      </a:r>
                      <a:endParaRPr lang="it-IT" sz="1100" b="1" i="0" u="none" strike="noStrike" dirty="0">
                        <a:solidFill>
                          <a:srgbClr val="000000"/>
                        </a:solidFill>
                        <a:effectLst/>
                        <a:latin typeface="Calibri" panose="020F0502020204030204" pitchFamily="34" charset="0"/>
                      </a:endParaRPr>
                    </a:p>
                  </a:txBody>
                  <a:tcPr marL="9525" marR="9525" marT="9525" marB="0">
                    <a:lnB w="12700" cap="flat" cmpd="sng" algn="ctr">
                      <a:solidFill>
                        <a:schemeClr val="tx1"/>
                      </a:solidFill>
                      <a:prstDash val="solid"/>
                      <a:round/>
                      <a:headEnd type="none" w="med" len="med"/>
                      <a:tailEnd type="none" w="med" len="med"/>
                    </a:lnB>
                  </a:tcPr>
                </a:tc>
                <a:tc>
                  <a:txBody>
                    <a:bodyPr/>
                    <a:lstStyle/>
                    <a:p>
                      <a:pPr algn="l" fontAlgn="t"/>
                      <a:r>
                        <a:rPr lang="it-IT" sz="1100" b="1" u="none" strike="noStrike" dirty="0" err="1">
                          <a:effectLst/>
                        </a:rPr>
                        <a:t>Less</a:t>
                      </a:r>
                      <a:r>
                        <a:rPr lang="it-IT" sz="1100" b="1" u="none" strike="noStrike" dirty="0">
                          <a:effectLst/>
                        </a:rPr>
                        <a:t> </a:t>
                      </a:r>
                      <a:r>
                        <a:rPr lang="it-IT" sz="1100" b="1" u="none" strike="noStrike" dirty="0" err="1">
                          <a:effectLst/>
                        </a:rPr>
                        <a:t>Significant</a:t>
                      </a:r>
                      <a:r>
                        <a:rPr lang="it-IT" sz="1100" b="1" u="none" strike="noStrike" dirty="0">
                          <a:effectLst/>
                        </a:rPr>
                        <a:t> </a:t>
                      </a:r>
                      <a:r>
                        <a:rPr lang="it-IT" sz="1100" b="1" u="none" strike="noStrike" dirty="0" err="1">
                          <a:effectLst/>
                        </a:rPr>
                        <a:t>Bands</a:t>
                      </a:r>
                      <a:endParaRPr lang="it-IT" sz="1100" b="1" i="0" u="none" strike="noStrike" dirty="0">
                        <a:solidFill>
                          <a:srgbClr val="000000"/>
                        </a:solidFill>
                        <a:effectLst/>
                        <a:latin typeface="Calibri" panose="020F0502020204030204" pitchFamily="34" charset="0"/>
                      </a:endParaRPr>
                    </a:p>
                  </a:txBody>
                  <a:tcPr marL="9525" marR="9525" marT="9525" marB="0">
                    <a:lnB w="12700" cap="flat" cmpd="sng" algn="ctr">
                      <a:solidFill>
                        <a:schemeClr val="tx1"/>
                      </a:solidFill>
                      <a:prstDash val="solid"/>
                      <a:round/>
                      <a:headEnd type="none" w="med" len="med"/>
                      <a:tailEnd type="none" w="med" len="med"/>
                    </a:lnB>
                  </a:tcPr>
                </a:tc>
                <a:tc>
                  <a:txBody>
                    <a:bodyPr/>
                    <a:lstStyle/>
                    <a:p>
                      <a:pPr algn="l" fontAlgn="t"/>
                      <a:r>
                        <a:rPr lang="it-IT" sz="1100" b="1" u="none" strike="noStrike" dirty="0" err="1">
                          <a:effectLst/>
                        </a:rPr>
                        <a:t>Characteristic</a:t>
                      </a:r>
                      <a:r>
                        <a:rPr lang="it-IT" sz="1100" b="1" u="none" strike="noStrike" dirty="0">
                          <a:effectLst/>
                        </a:rPr>
                        <a:t> </a:t>
                      </a:r>
                      <a:r>
                        <a:rPr lang="it-IT" sz="1100" b="1" u="none" strike="noStrike" dirty="0" err="1">
                          <a:effectLst/>
                        </a:rPr>
                        <a:t>Features</a:t>
                      </a:r>
                      <a:endParaRPr lang="it-IT" sz="1100" b="1" i="0" u="none" strike="noStrike" dirty="0">
                        <a:solidFill>
                          <a:srgbClr val="000000"/>
                        </a:solidFill>
                        <a:effectLst/>
                        <a:latin typeface="Calibri" panose="020F0502020204030204" pitchFamily="34" charset="0"/>
                      </a:endParaRPr>
                    </a:p>
                  </a:txBody>
                  <a:tcPr marL="9525" marR="9525" marT="9525"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42583"/>
                  </a:ext>
                </a:extLst>
              </a:tr>
              <a:tr h="703811">
                <a:tc>
                  <a:txBody>
                    <a:bodyPr/>
                    <a:lstStyle/>
                    <a:p>
                      <a:pPr algn="l" fontAlgn="b"/>
                      <a:r>
                        <a:rPr lang="it-IT" sz="1100" u="none" strike="noStrike" dirty="0">
                          <a:effectLst/>
                        </a:rPr>
                        <a:t>Dry </a:t>
                      </a:r>
                      <a:r>
                        <a:rPr lang="it-IT" sz="1100" u="none" strike="noStrike" dirty="0" err="1">
                          <a:effectLst/>
                        </a:rPr>
                        <a:t>Matter</a:t>
                      </a:r>
                      <a:r>
                        <a:rPr lang="it-IT" sz="1100" u="none" strike="noStrike" dirty="0">
                          <a:effectLst/>
                        </a:rPr>
                        <a:t> (DM)</a:t>
                      </a:r>
                      <a:endParaRPr lang="it-IT" sz="1100" b="0" i="0" u="none" strike="noStrike" dirty="0">
                        <a:solidFill>
                          <a:srgbClr val="000000"/>
                        </a:solidFill>
                        <a:effectLst/>
                        <a:latin typeface="Calibri" panose="020F0502020204030204" pitchFamily="34" charset="0"/>
                      </a:endParaRPr>
                    </a:p>
                  </a:txBody>
                  <a:tcPr marL="9525" marR="9525" marT="9525" marB="0">
                    <a:lnT w="12700" cap="flat" cmpd="sng" algn="ctr">
                      <a:solidFill>
                        <a:schemeClr val="tx1"/>
                      </a:solidFill>
                      <a:prstDash val="solid"/>
                      <a:round/>
                      <a:headEnd type="none" w="med" len="med"/>
                      <a:tailEnd type="none" w="med" len="med"/>
                    </a:lnT>
                  </a:tcPr>
                </a:tc>
                <a:tc>
                  <a:txBody>
                    <a:bodyPr/>
                    <a:lstStyle/>
                    <a:p>
                      <a:pPr algn="l" fontAlgn="b"/>
                      <a:r>
                        <a:rPr lang="pt-BR" sz="1100" u="none" strike="noStrike">
                          <a:effectLst/>
                        </a:rPr>
                        <a:t>1400–1450 nm (O–H stretch), 1900–1950 nm (O–H bend)</a:t>
                      </a:r>
                      <a:endParaRPr lang="pt-BR" sz="1100" b="0" i="0" u="none" strike="noStrike">
                        <a:solidFill>
                          <a:srgbClr val="000000"/>
                        </a:solidFill>
                        <a:effectLst/>
                        <a:latin typeface="Calibri" panose="020F0502020204030204" pitchFamily="34" charset="0"/>
                      </a:endParaRPr>
                    </a:p>
                  </a:txBody>
                  <a:tcPr marL="9525" marR="9525" marT="9525" marB="0">
                    <a:lnT w="12700" cap="flat" cmpd="sng" algn="ctr">
                      <a:solidFill>
                        <a:schemeClr val="tx1"/>
                      </a:solidFill>
                      <a:prstDash val="solid"/>
                      <a:round/>
                      <a:headEnd type="none" w="med" len="med"/>
                      <a:tailEnd type="none" w="med" len="med"/>
                    </a:lnT>
                  </a:tcPr>
                </a:tc>
                <a:tc>
                  <a:txBody>
                    <a:bodyPr/>
                    <a:lstStyle/>
                    <a:p>
                      <a:pPr algn="l" fontAlgn="b"/>
                      <a:r>
                        <a:rPr lang="en-US" sz="1100" u="none" strike="noStrike">
                          <a:effectLst/>
                        </a:rPr>
                        <a:t>850–900 nm (moisture content), 970–980 nm (free water modes)</a:t>
                      </a:r>
                      <a:endParaRPr lang="en-US" sz="1100" b="0" i="0" u="none" strike="noStrike">
                        <a:solidFill>
                          <a:srgbClr val="000000"/>
                        </a:solidFill>
                        <a:effectLst/>
                        <a:latin typeface="Calibri" panose="020F0502020204030204" pitchFamily="34" charset="0"/>
                      </a:endParaRPr>
                    </a:p>
                  </a:txBody>
                  <a:tcPr marL="9525" marR="9525" marT="9525" marB="0">
                    <a:lnT w="12700" cap="flat" cmpd="sng" algn="ctr">
                      <a:solidFill>
                        <a:schemeClr val="tx1"/>
                      </a:solidFill>
                      <a:prstDash val="solid"/>
                      <a:round/>
                      <a:headEnd type="none" w="med" len="med"/>
                      <a:tailEnd type="none" w="med" len="med"/>
                    </a:lnT>
                  </a:tcPr>
                </a:tc>
                <a:tc>
                  <a:txBody>
                    <a:bodyPr/>
                    <a:lstStyle/>
                    <a:p>
                      <a:pPr algn="l" fontAlgn="b"/>
                      <a:r>
                        <a:rPr lang="en-US" sz="1100" u="none" strike="noStrike" dirty="0">
                          <a:effectLst/>
                        </a:rPr>
                        <a:t>Reflects moisture content and total solids.</a:t>
                      </a:r>
                      <a:endParaRPr lang="en-US" sz="1100" b="0" i="0" u="none" strike="noStrike" dirty="0">
                        <a:solidFill>
                          <a:srgbClr val="000000"/>
                        </a:solidFill>
                        <a:effectLst/>
                        <a:latin typeface="Calibri" panose="020F0502020204030204" pitchFamily="34" charset="0"/>
                      </a:endParaRPr>
                    </a:p>
                  </a:txBody>
                  <a:tcPr marL="9525" marR="9525" marT="9525"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86883656"/>
                  </a:ext>
                </a:extLst>
              </a:tr>
              <a:tr h="856211">
                <a:tc>
                  <a:txBody>
                    <a:bodyPr/>
                    <a:lstStyle/>
                    <a:p>
                      <a:pPr algn="l" fontAlgn="b"/>
                      <a:r>
                        <a:rPr lang="it-IT" sz="1100" u="none" strike="noStrike" dirty="0" err="1">
                          <a:effectLst/>
                        </a:rPr>
                        <a:t>Starch</a:t>
                      </a:r>
                      <a:endParaRPr lang="it-IT"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dirty="0">
                          <a:effectLst/>
                        </a:rPr>
                        <a:t>900–950 nm (C–H </a:t>
                      </a:r>
                      <a:r>
                        <a:rPr lang="it-IT" sz="1100" u="none" strike="noStrike" dirty="0" err="1">
                          <a:effectLst/>
                        </a:rPr>
                        <a:t>overtone</a:t>
                      </a:r>
                      <a:r>
                        <a:rPr lang="it-IT" sz="1100" u="none" strike="noStrike" dirty="0">
                          <a:effectLst/>
                        </a:rPr>
                        <a:t>), 1200–1250 nm (C–H stretch), 1700–1750 nm (C–H and O–H </a:t>
                      </a:r>
                      <a:r>
                        <a:rPr lang="it-IT" sz="1100" u="none" strike="noStrike" dirty="0" err="1">
                          <a:effectLst/>
                        </a:rPr>
                        <a:t>combinations</a:t>
                      </a:r>
                      <a:r>
                        <a:rPr lang="it-IT" sz="1100" u="none" strike="noStrike" dirty="0">
                          <a:effectLst/>
                        </a:rPr>
                        <a:t>)</a:t>
                      </a:r>
                      <a:endParaRPr lang="it-IT"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a:effectLst/>
                        </a:rPr>
                        <a:t>2100–2150 nm (starch-specific features), 1800–1900 nm (minor carbohydrate signals)</a:t>
                      </a:r>
                      <a:endParaRPr lang="en-US"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a:effectLst/>
                        </a:rPr>
                        <a:t>Represents energy availability.</a:t>
                      </a:r>
                      <a:endParaRPr lang="it-IT" sz="1100" b="0" i="0" u="none" strike="noStrike">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342948612"/>
                  </a:ext>
                </a:extLst>
              </a:tr>
              <a:tr h="856210">
                <a:tc>
                  <a:txBody>
                    <a:bodyPr/>
                    <a:lstStyle/>
                    <a:p>
                      <a:pPr algn="l" fontAlgn="b"/>
                      <a:r>
                        <a:rPr lang="it-IT" sz="1100" u="none" strike="noStrike" dirty="0" err="1">
                          <a:effectLst/>
                        </a:rPr>
                        <a:t>Protein</a:t>
                      </a:r>
                      <a:endParaRPr lang="it-IT"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dirty="0">
                          <a:effectLst/>
                        </a:rPr>
                        <a:t>2050–2250 nm (N–H </a:t>
                      </a:r>
                      <a:r>
                        <a:rPr lang="it-IT" sz="1100" u="none" strike="noStrike" dirty="0" err="1">
                          <a:effectLst/>
                        </a:rPr>
                        <a:t>combinations</a:t>
                      </a:r>
                      <a:r>
                        <a:rPr lang="it-IT" sz="1100" u="none" strike="noStrike" dirty="0">
                          <a:effectLst/>
                        </a:rPr>
                        <a:t>), 1500–1550 nm (amide bonds)</a:t>
                      </a:r>
                      <a:endParaRPr lang="it-IT"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a:effectLst/>
                        </a:rPr>
                        <a:t>1800–1900 nm (minor amide bands), 1200–1300 nm (aromatic N-H interactions)</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dirty="0" err="1">
                          <a:effectLst/>
                        </a:rPr>
                        <a:t>Reflects</a:t>
                      </a:r>
                      <a:r>
                        <a:rPr lang="it-IT" sz="1100" u="none" strike="noStrike" dirty="0">
                          <a:effectLst/>
                        </a:rPr>
                        <a:t> forage </a:t>
                      </a:r>
                      <a:r>
                        <a:rPr lang="it-IT" sz="1100" u="none" strike="noStrike" dirty="0" err="1">
                          <a:effectLst/>
                        </a:rPr>
                        <a:t>nitrogen</a:t>
                      </a:r>
                      <a:r>
                        <a:rPr lang="it-IT" sz="1100" u="none" strike="noStrike" dirty="0">
                          <a:effectLst/>
                        </a:rPr>
                        <a:t> </a:t>
                      </a:r>
                      <a:r>
                        <a:rPr lang="it-IT" sz="1100" u="none" strike="noStrike" dirty="0" err="1">
                          <a:effectLst/>
                        </a:rPr>
                        <a:t>content</a:t>
                      </a:r>
                      <a:r>
                        <a:rPr lang="it-IT" sz="1100" u="none" strike="noStrike" dirty="0">
                          <a:effectLst/>
                        </a:rPr>
                        <a:t>.</a:t>
                      </a:r>
                      <a:endParaRPr lang="it-IT"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691226614"/>
                  </a:ext>
                </a:extLst>
              </a:tr>
              <a:tr h="952500">
                <a:tc>
                  <a:txBody>
                    <a:bodyPr/>
                    <a:lstStyle/>
                    <a:p>
                      <a:pPr algn="l" fontAlgn="b"/>
                      <a:r>
                        <a:rPr lang="it-IT" sz="1100" u="none" strike="noStrike">
                          <a:effectLst/>
                        </a:rPr>
                        <a:t>Fibers (Neutral/Acid Detergent)</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pt-BR" sz="1100" u="none" strike="noStrike" dirty="0">
                          <a:effectLst/>
                        </a:rPr>
                        <a:t>1200–1300 nm (C–H stretch), 1700–1750 nm (O–H and C–H combinations), 2100–2200 nm (C–O and C–H)</a:t>
                      </a:r>
                      <a:endParaRPr lang="pt-BR"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1800–1850 nm (cellulose and lignin features), 1500–1600 nm (hemicellulose interactions)</a:t>
                      </a:r>
                      <a:endParaRPr lang="en-US" sz="11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b"/>
                      <a:r>
                        <a:rPr lang="en-US" sz="1100" u="none" strike="noStrike" dirty="0">
                          <a:effectLst/>
                        </a:rPr>
                        <a:t>Indicates cellulose and hemicellulose content.</a:t>
                      </a:r>
                      <a:endParaRPr lang="en-US"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670125072"/>
                  </a:ext>
                </a:extLst>
              </a:tr>
              <a:tr h="768235">
                <a:tc>
                  <a:txBody>
                    <a:bodyPr/>
                    <a:lstStyle/>
                    <a:p>
                      <a:pPr algn="l" fontAlgn="b"/>
                      <a:r>
                        <a:rPr lang="it-IT" sz="1100" u="none" strike="noStrike">
                          <a:effectLst/>
                        </a:rPr>
                        <a:t>Fat (Ether Extract)</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a:effectLst/>
                        </a:rPr>
                        <a:t>1700–1750 nm (C=O and C–H), 2300–2350 nm (C–H aliphatic stretch)</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a:effectLst/>
                        </a:rPr>
                        <a:t>1500–1600 nm (lipid-specific overtone)</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dirty="0" err="1">
                          <a:effectLst/>
                        </a:rPr>
                        <a:t>Reflects</a:t>
                      </a:r>
                      <a:r>
                        <a:rPr lang="it-IT" sz="1100" u="none" strike="noStrike" dirty="0">
                          <a:effectLst/>
                        </a:rPr>
                        <a:t> </a:t>
                      </a:r>
                      <a:r>
                        <a:rPr lang="it-IT" sz="1100" u="none" strike="noStrike" dirty="0" err="1">
                          <a:effectLst/>
                        </a:rPr>
                        <a:t>lipid</a:t>
                      </a:r>
                      <a:r>
                        <a:rPr lang="it-IT" sz="1100" u="none" strike="noStrike" dirty="0">
                          <a:effectLst/>
                        </a:rPr>
                        <a:t> </a:t>
                      </a:r>
                      <a:r>
                        <a:rPr lang="it-IT" sz="1100" u="none" strike="noStrike" dirty="0" err="1">
                          <a:effectLst/>
                        </a:rPr>
                        <a:t>content</a:t>
                      </a:r>
                      <a:r>
                        <a:rPr lang="it-IT" sz="1100" u="none" strike="noStrike" dirty="0">
                          <a:effectLst/>
                        </a:rPr>
                        <a:t>.</a:t>
                      </a:r>
                      <a:endParaRPr lang="it-IT"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113514700"/>
                  </a:ext>
                </a:extLst>
              </a:tr>
              <a:tr h="381000">
                <a:tc>
                  <a:txBody>
                    <a:bodyPr/>
                    <a:lstStyle/>
                    <a:p>
                      <a:pPr algn="l" fontAlgn="b"/>
                      <a:r>
                        <a:rPr lang="it-IT" sz="1100" u="none" strike="noStrike">
                          <a:effectLst/>
                        </a:rPr>
                        <a:t>Ash (Minerals)</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a:effectLst/>
                        </a:rPr>
                        <a:t>2200–2300 nm (metal–oxygen bonds)</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a:effectLst/>
                        </a:rPr>
                        <a:t>1400–1450 nm (trace minerals)</a:t>
                      </a:r>
                      <a:endParaRPr lang="it-IT" sz="1100" b="0" i="0" u="none" strike="noStrike">
                        <a:solidFill>
                          <a:srgbClr val="000000"/>
                        </a:solidFill>
                        <a:effectLst/>
                        <a:latin typeface="Calibri" panose="020F0502020204030204" pitchFamily="34" charset="0"/>
                      </a:endParaRPr>
                    </a:p>
                  </a:txBody>
                  <a:tcPr marL="9525" marR="9525" marT="9525" marB="0"/>
                </a:tc>
                <a:tc>
                  <a:txBody>
                    <a:bodyPr/>
                    <a:lstStyle/>
                    <a:p>
                      <a:pPr algn="l" fontAlgn="b"/>
                      <a:r>
                        <a:rPr lang="it-IT" sz="1100" u="none" strike="noStrike" dirty="0" err="1">
                          <a:effectLst/>
                        </a:rPr>
                        <a:t>Indicates</a:t>
                      </a:r>
                      <a:r>
                        <a:rPr lang="it-IT" sz="1100" u="none" strike="noStrike" dirty="0">
                          <a:effectLst/>
                        </a:rPr>
                        <a:t> </a:t>
                      </a:r>
                      <a:r>
                        <a:rPr lang="it-IT" sz="1100" u="none" strike="noStrike" dirty="0" err="1">
                          <a:effectLst/>
                        </a:rPr>
                        <a:t>essential</a:t>
                      </a:r>
                      <a:r>
                        <a:rPr lang="it-IT" sz="1100" u="none" strike="noStrike" dirty="0">
                          <a:effectLst/>
                        </a:rPr>
                        <a:t> </a:t>
                      </a:r>
                      <a:r>
                        <a:rPr lang="it-IT" sz="1100" u="none" strike="noStrike" dirty="0" err="1">
                          <a:effectLst/>
                        </a:rPr>
                        <a:t>mineral</a:t>
                      </a:r>
                      <a:r>
                        <a:rPr lang="it-IT" sz="1100" u="none" strike="noStrike" dirty="0">
                          <a:effectLst/>
                        </a:rPr>
                        <a:t> </a:t>
                      </a:r>
                      <a:r>
                        <a:rPr lang="it-IT" sz="1100" u="none" strike="noStrike" dirty="0" err="1">
                          <a:effectLst/>
                        </a:rPr>
                        <a:t>content</a:t>
                      </a:r>
                      <a:r>
                        <a:rPr lang="it-IT" sz="1100" u="none" strike="noStrike" dirty="0">
                          <a:effectLst/>
                        </a:rPr>
                        <a:t>.</a:t>
                      </a:r>
                      <a:endParaRPr lang="it-IT" sz="11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78587962"/>
                  </a:ext>
                </a:extLst>
              </a:tr>
            </a:tbl>
          </a:graphicData>
        </a:graphic>
      </p:graphicFrame>
    </p:spTree>
    <p:extLst>
      <p:ext uri="{BB962C8B-B14F-4D97-AF65-F5344CB8AC3E}">
        <p14:creationId xmlns:p14="http://schemas.microsoft.com/office/powerpoint/2010/main" val="3651035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1000" y="-6386"/>
            <a:ext cx="12187610" cy="6864386"/>
          </a:xfrm>
          <a:prstGeom prst="rect">
            <a:avLst/>
          </a:prstGeom>
          <a:solidFill>
            <a:srgbClr val="242B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199"/>
          </a:p>
        </p:txBody>
      </p:sp>
      <p:sp>
        <p:nvSpPr>
          <p:cNvPr id="22" name="Titolo 3"/>
          <p:cNvSpPr txBox="1">
            <a:spLocks/>
          </p:cNvSpPr>
          <p:nvPr/>
        </p:nvSpPr>
        <p:spPr bwMode="auto">
          <a:xfrm>
            <a:off x="6209125" y="6000640"/>
            <a:ext cx="11686981" cy="573334"/>
          </a:xfrm>
          <a:prstGeom prst="rect">
            <a:avLst/>
          </a:prstGeom>
          <a:noFill/>
          <a:ln w="9525">
            <a:noFill/>
            <a:round/>
            <a:headEnd/>
            <a:tailEnd/>
          </a:ln>
        </p:spPr>
        <p:txBody>
          <a:bodyPr vert="horz" wrap="square" lIns="89967" tIns="44984" rIns="89967" bIns="44984" numCol="1" anchor="t" anchorCtr="0" compatLnSpc="1">
            <a:prstTxWarp prst="textNoShape">
              <a:avLst/>
            </a:prstTxWarp>
          </a:bodyPr>
          <a:lstStyle>
            <a:lvl1pPr algn="l" defTabSz="449263" rtl="0" eaLnBrk="0" fontAlgn="base" hangingPunct="0">
              <a:lnSpc>
                <a:spcPct val="93000"/>
              </a:lnSpc>
              <a:spcBef>
                <a:spcPct val="0"/>
              </a:spcBef>
              <a:spcAft>
                <a:spcPct val="0"/>
              </a:spcAft>
              <a:buClr>
                <a:srgbClr val="000000"/>
              </a:buClr>
              <a:buSzPct val="100000"/>
              <a:buFont typeface="Times New Roman" pitchFamily="18" charset="0"/>
              <a:defRPr sz="3584">
                <a:solidFill>
                  <a:srgbClr val="000000"/>
                </a:solidFill>
                <a:latin typeface="+mj-lt"/>
                <a:ea typeface="Arial Unicode MS" pitchFamily="34" charset="-128"/>
                <a:cs typeface="+mj-cs"/>
              </a:defRPr>
            </a:lvl1pPr>
            <a:lvl2pPr algn="l" defTabSz="449263" rtl="0" eaLnBrk="0" fontAlgn="base" hangingPunct="0">
              <a:lnSpc>
                <a:spcPct val="93000"/>
              </a:lnSpc>
              <a:spcBef>
                <a:spcPct val="0"/>
              </a:spcBef>
              <a:spcAft>
                <a:spcPct val="0"/>
              </a:spcAft>
              <a:buClr>
                <a:srgbClr val="000000"/>
              </a:buClr>
              <a:buSzPct val="100000"/>
              <a:buFont typeface="Times New Roman" pitchFamily="18" charset="0"/>
              <a:defRPr>
                <a:solidFill>
                  <a:srgbClr val="000000"/>
                </a:solidFill>
                <a:latin typeface="Calibri" charset="0"/>
                <a:ea typeface="Arial Unicode MS" pitchFamily="34" charset="-128"/>
                <a:cs typeface="Arial Unicode MS" charset="0"/>
              </a:defRPr>
            </a:lvl2pPr>
            <a:lvl3pPr algn="l" defTabSz="449263" rtl="0" eaLnBrk="0" fontAlgn="base" hangingPunct="0">
              <a:lnSpc>
                <a:spcPct val="93000"/>
              </a:lnSpc>
              <a:spcBef>
                <a:spcPct val="0"/>
              </a:spcBef>
              <a:spcAft>
                <a:spcPct val="0"/>
              </a:spcAft>
              <a:buClr>
                <a:srgbClr val="000000"/>
              </a:buClr>
              <a:buSzPct val="100000"/>
              <a:buFont typeface="Times New Roman" pitchFamily="18" charset="0"/>
              <a:defRPr>
                <a:solidFill>
                  <a:srgbClr val="000000"/>
                </a:solidFill>
                <a:latin typeface="Calibri" charset="0"/>
                <a:ea typeface="Arial Unicode MS" pitchFamily="34" charset="-128"/>
                <a:cs typeface="Arial Unicode MS" charset="0"/>
              </a:defRPr>
            </a:lvl3pPr>
            <a:lvl4pPr algn="l" defTabSz="449263" rtl="0" eaLnBrk="0" fontAlgn="base" hangingPunct="0">
              <a:lnSpc>
                <a:spcPct val="93000"/>
              </a:lnSpc>
              <a:spcBef>
                <a:spcPct val="0"/>
              </a:spcBef>
              <a:spcAft>
                <a:spcPct val="0"/>
              </a:spcAft>
              <a:buClr>
                <a:srgbClr val="000000"/>
              </a:buClr>
              <a:buSzPct val="100000"/>
              <a:buFont typeface="Times New Roman" pitchFamily="18" charset="0"/>
              <a:defRPr>
                <a:solidFill>
                  <a:srgbClr val="000000"/>
                </a:solidFill>
                <a:latin typeface="Calibri" charset="0"/>
                <a:ea typeface="Arial Unicode MS" pitchFamily="34" charset="-128"/>
                <a:cs typeface="Arial Unicode MS" charset="0"/>
              </a:defRPr>
            </a:lvl4pPr>
            <a:lvl5pPr algn="l" defTabSz="449263" rtl="0" eaLnBrk="0" fontAlgn="base" hangingPunct="0">
              <a:lnSpc>
                <a:spcPct val="93000"/>
              </a:lnSpc>
              <a:spcBef>
                <a:spcPct val="0"/>
              </a:spcBef>
              <a:spcAft>
                <a:spcPct val="0"/>
              </a:spcAft>
              <a:buClr>
                <a:srgbClr val="000000"/>
              </a:buClr>
              <a:buSzPct val="100000"/>
              <a:buFont typeface="Times New Roman" pitchFamily="18" charset="0"/>
              <a:defRPr>
                <a:solidFill>
                  <a:srgbClr val="000000"/>
                </a:solidFill>
                <a:latin typeface="Calibri" charset="0"/>
                <a:ea typeface="Arial Unicode MS" pitchFamily="34" charset="-128"/>
                <a:cs typeface="Arial Unicode MS" charset="0"/>
              </a:defRPr>
            </a:lvl5pPr>
            <a:lvl6pPr marL="2514600" indent="-228600" algn="l" defTabSz="449263" rtl="0" fontAlgn="base">
              <a:lnSpc>
                <a:spcPct val="93000"/>
              </a:lnSpc>
              <a:spcBef>
                <a:spcPct val="0"/>
              </a:spcBef>
              <a:spcAft>
                <a:spcPct val="0"/>
              </a:spcAft>
              <a:buClr>
                <a:srgbClr val="000000"/>
              </a:buClr>
              <a:buSzPct val="100000"/>
              <a:buFont typeface="Times New Roman" pitchFamily="16" charset="0"/>
              <a:defRPr>
                <a:solidFill>
                  <a:srgbClr val="000000"/>
                </a:solidFill>
                <a:latin typeface="Calibri" charset="0"/>
                <a:cs typeface="Arial Unicode MS" charset="0"/>
              </a:defRPr>
            </a:lvl6pPr>
            <a:lvl7pPr marL="2971800" indent="-228600" algn="l" defTabSz="449263" rtl="0" fontAlgn="base">
              <a:lnSpc>
                <a:spcPct val="93000"/>
              </a:lnSpc>
              <a:spcBef>
                <a:spcPct val="0"/>
              </a:spcBef>
              <a:spcAft>
                <a:spcPct val="0"/>
              </a:spcAft>
              <a:buClr>
                <a:srgbClr val="000000"/>
              </a:buClr>
              <a:buSzPct val="100000"/>
              <a:buFont typeface="Times New Roman" pitchFamily="16" charset="0"/>
              <a:defRPr>
                <a:solidFill>
                  <a:srgbClr val="000000"/>
                </a:solidFill>
                <a:latin typeface="Calibri" charset="0"/>
                <a:cs typeface="Arial Unicode MS" charset="0"/>
              </a:defRPr>
            </a:lvl7pPr>
            <a:lvl8pPr marL="3429000" indent="-228600" algn="l" defTabSz="449263" rtl="0" fontAlgn="base">
              <a:lnSpc>
                <a:spcPct val="93000"/>
              </a:lnSpc>
              <a:spcBef>
                <a:spcPct val="0"/>
              </a:spcBef>
              <a:spcAft>
                <a:spcPct val="0"/>
              </a:spcAft>
              <a:buClr>
                <a:srgbClr val="000000"/>
              </a:buClr>
              <a:buSzPct val="100000"/>
              <a:buFont typeface="Times New Roman" pitchFamily="16" charset="0"/>
              <a:defRPr>
                <a:solidFill>
                  <a:srgbClr val="000000"/>
                </a:solidFill>
                <a:latin typeface="Calibri" charset="0"/>
                <a:cs typeface="Arial Unicode MS" charset="0"/>
              </a:defRPr>
            </a:lvl8pPr>
            <a:lvl9pPr marL="3886200" indent="-228600" algn="l" defTabSz="449263" rtl="0" fontAlgn="base">
              <a:lnSpc>
                <a:spcPct val="93000"/>
              </a:lnSpc>
              <a:spcBef>
                <a:spcPct val="0"/>
              </a:spcBef>
              <a:spcAft>
                <a:spcPct val="0"/>
              </a:spcAft>
              <a:buClr>
                <a:srgbClr val="000000"/>
              </a:buClr>
              <a:buSzPct val="100000"/>
              <a:buFont typeface="Times New Roman" pitchFamily="16" charset="0"/>
              <a:defRPr>
                <a:solidFill>
                  <a:srgbClr val="000000"/>
                </a:solidFill>
                <a:latin typeface="Calibri" charset="0"/>
                <a:cs typeface="Arial Unicode MS" charset="0"/>
              </a:defRPr>
            </a:lvl9pPr>
          </a:lstStyle>
          <a:p>
            <a:pPr lvl="0">
              <a:defRPr/>
            </a:pPr>
            <a:r>
              <a:rPr lang="it-IT" sz="3199" b="1" kern="0" dirty="0">
                <a:solidFill>
                  <a:schemeClr val="bg1"/>
                </a:solidFill>
                <a:latin typeface="Source Sans Pro" panose="020B0503030403020204" pitchFamily="34" charset="0"/>
                <a:ea typeface="Source Sans Pro" panose="020B0503030403020204" pitchFamily="34" charset="0"/>
              </a:rPr>
              <a:t>www.dinamicagenerale.com</a:t>
            </a:r>
          </a:p>
        </p:txBody>
      </p:sp>
      <p:pic>
        <p:nvPicPr>
          <p:cNvPr id="7" name="Immagin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7019" y="854016"/>
            <a:ext cx="9087385" cy="3106988"/>
          </a:xfrm>
          <a:prstGeom prst="rect">
            <a:avLst/>
          </a:prstGeom>
        </p:spPr>
      </p:pic>
    </p:spTree>
    <p:extLst>
      <p:ext uri="{BB962C8B-B14F-4D97-AF65-F5344CB8AC3E}">
        <p14:creationId xmlns:p14="http://schemas.microsoft.com/office/powerpoint/2010/main" val="41141380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3324</TotalTime>
  <Words>1650</Words>
  <Application>Microsoft Office PowerPoint</Application>
  <PresentationFormat>Widescreen</PresentationFormat>
  <Paragraphs>502</Paragraphs>
  <Slides>13</Slides>
  <Notes>13</Notes>
  <HiddenSlides>0</HiddenSlides>
  <MMClips>0</MMClips>
  <ScaleCrop>false</ScaleCrop>
  <HeadingPairs>
    <vt:vector size="8" baseType="variant">
      <vt:variant>
        <vt:lpstr>Caratteri utilizzati</vt:lpstr>
      </vt:variant>
      <vt:variant>
        <vt:i4>6</vt:i4>
      </vt:variant>
      <vt:variant>
        <vt:lpstr>Tema</vt:lpstr>
      </vt:variant>
      <vt:variant>
        <vt:i4>1</vt:i4>
      </vt:variant>
      <vt:variant>
        <vt:lpstr>Server OLE incorporati</vt:lpstr>
      </vt:variant>
      <vt:variant>
        <vt:i4>1</vt:i4>
      </vt:variant>
      <vt:variant>
        <vt:lpstr>Titoli diapositive</vt:lpstr>
      </vt:variant>
      <vt:variant>
        <vt:i4>13</vt:i4>
      </vt:variant>
    </vt:vector>
  </HeadingPairs>
  <TitlesOfParts>
    <vt:vector size="21" baseType="lpstr">
      <vt:lpstr>Arial</vt:lpstr>
      <vt:lpstr>Calibri</vt:lpstr>
      <vt:lpstr>Calibri Light</vt:lpstr>
      <vt:lpstr>Cambria Math</vt:lpstr>
      <vt:lpstr>Source Sans Pro</vt:lpstr>
      <vt:lpstr>Times New Roman</vt:lpstr>
      <vt:lpstr>Tema di Office</vt:lpstr>
      <vt:lpstr>Bitmap Image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Enrico Salvaterra</dc:creator>
  <cp:lastModifiedBy>Matilde Molinari</cp:lastModifiedBy>
  <cp:revision>188</cp:revision>
  <dcterms:created xsi:type="dcterms:W3CDTF">2020-07-02T08:33:27Z</dcterms:created>
  <dcterms:modified xsi:type="dcterms:W3CDTF">2026-02-05T17:12:32Z</dcterms:modified>
</cp:coreProperties>
</file>